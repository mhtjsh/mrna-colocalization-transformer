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21"/>
  </p:notesMasterIdLst>
  <p:sldIdLst>
    <p:sldId id="256" r:id="rId2"/>
    <p:sldId id="257" r:id="rId3"/>
    <p:sldId id="279" r:id="rId4"/>
    <p:sldId id="295" r:id="rId5"/>
    <p:sldId id="296" r:id="rId6"/>
    <p:sldId id="297" r:id="rId7"/>
    <p:sldId id="298" r:id="rId8"/>
    <p:sldId id="299" r:id="rId9"/>
    <p:sldId id="300" r:id="rId10"/>
    <p:sldId id="301" r:id="rId11"/>
    <p:sldId id="302" r:id="rId12"/>
    <p:sldId id="303" r:id="rId13"/>
    <p:sldId id="304" r:id="rId14"/>
    <p:sldId id="305" r:id="rId15"/>
    <p:sldId id="306" r:id="rId16"/>
    <p:sldId id="307" r:id="rId17"/>
    <p:sldId id="308" r:id="rId18"/>
    <p:sldId id="309" r:id="rId19"/>
    <p:sldId id="277" r:id="rId20"/>
  </p:sldIdLst>
  <p:sldSz cx="12192000" cy="6858000"/>
  <p:notesSz cx="6858000" cy="9144000"/>
  <p:embeddedFontLst>
    <p:embeddedFont>
      <p:font typeface="Georgia" panose="02040502050405020303" pitchFamily="18" charset="0"/>
      <p:regular r:id="rId22"/>
      <p:bold r:id="rId23"/>
      <p:italic r:id="rId24"/>
      <p:boldItalic r:id="rId25"/>
    </p:embeddedFont>
    <p:embeddedFont>
      <p:font typeface="Roboto" panose="02000000000000000000" pitchFamily="2" charset="0"/>
      <p:regular r:id="rId26"/>
      <p:bold r:id="rId27"/>
      <p:italic r:id="rId28"/>
      <p:boldItalic r:id="rId29"/>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37" roundtripDataSignature="AMtx7mhgoqP1yjJPMAaU6XnpAZ4pKqCM4g=="/>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46F890A9-2807-4EBB-B81D-B2AA78EC7F39}" styleName="Dark Style 2 - Accent 5/Accent 6">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5">
              <a:tint val="20000"/>
            </a:schemeClr>
          </a:solidFill>
        </a:fill>
      </a:tcStyle>
    </a:lastRow>
    <a:firstRow>
      <a:tcTxStyle b="on">
        <a:fontRef idx="minor">
          <a:scrgbClr r="0" g="0" b="0"/>
        </a:fontRef>
        <a:schemeClr val="lt1"/>
      </a:tcTxStyle>
      <a:tcStyle>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82" d="100"/>
          <a:sy n="82" d="100"/>
        </p:scale>
        <p:origin x="1013" y="62"/>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5.fntdata"/><Relationship Id="rId39"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4.fntdata"/><Relationship Id="rId38"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8.fntdata"/><Relationship Id="rId4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3.fntdata"/><Relationship Id="rId37" Type="http://customschemas.google.com/relationships/presentationmetadata" Target="metadata"/><Relationship Id="rId40"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2.fntdata"/><Relationship Id="rId28" Type="http://schemas.openxmlformats.org/officeDocument/2006/relationships/font" Target="fonts/font7.fntdata"/><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1.fntdata"/><Relationship Id="rId27" Type="http://schemas.openxmlformats.org/officeDocument/2006/relationships/font" Target="fonts/font6.fntdata"/><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IN"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6" name="Google Shape;86;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
        <p:cNvGrpSpPr/>
        <p:nvPr/>
      </p:nvGrpSpPr>
      <p:grpSpPr>
        <a:xfrm>
          <a:off x="0" y="0"/>
          <a:ext cx="0" cy="0"/>
          <a:chOff x="0" y="0"/>
          <a:chExt cx="0" cy="0"/>
        </a:xfrm>
      </p:grpSpPr>
      <p:sp>
        <p:nvSpPr>
          <p:cNvPr id="98" name="Google Shape;98;p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9" name="Google Shape;99;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
          <a:extLst>
            <a:ext uri="{FF2B5EF4-FFF2-40B4-BE49-F238E27FC236}">
              <a16:creationId xmlns:a16="http://schemas.microsoft.com/office/drawing/2014/main" id="{02F6DCFE-B1A9-AB1C-3E01-D641B825F6AB}"/>
            </a:ext>
          </a:extLst>
        </p:cNvPr>
        <p:cNvGrpSpPr/>
        <p:nvPr/>
      </p:nvGrpSpPr>
      <p:grpSpPr>
        <a:xfrm>
          <a:off x="0" y="0"/>
          <a:ext cx="0" cy="0"/>
          <a:chOff x="0" y="0"/>
          <a:chExt cx="0" cy="0"/>
        </a:xfrm>
      </p:grpSpPr>
      <p:sp>
        <p:nvSpPr>
          <p:cNvPr id="98" name="Google Shape;98;p2:notes">
            <a:extLst>
              <a:ext uri="{FF2B5EF4-FFF2-40B4-BE49-F238E27FC236}">
                <a16:creationId xmlns:a16="http://schemas.microsoft.com/office/drawing/2014/main" id="{13DE4AED-D88C-68A3-E47A-94B97106EEC4}"/>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9" name="Google Shape;99;p2:notes">
            <a:extLst>
              <a:ext uri="{FF2B5EF4-FFF2-40B4-BE49-F238E27FC236}">
                <a16:creationId xmlns:a16="http://schemas.microsoft.com/office/drawing/2014/main" id="{144FC99C-5C16-ED49-13D8-DC4567BCE478}"/>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4316012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
          <a:extLst>
            <a:ext uri="{FF2B5EF4-FFF2-40B4-BE49-F238E27FC236}">
              <a16:creationId xmlns:a16="http://schemas.microsoft.com/office/drawing/2014/main" id="{5D64B66E-882D-E14B-83E7-4B1F6235A52A}"/>
            </a:ext>
          </a:extLst>
        </p:cNvPr>
        <p:cNvGrpSpPr/>
        <p:nvPr/>
      </p:nvGrpSpPr>
      <p:grpSpPr>
        <a:xfrm>
          <a:off x="0" y="0"/>
          <a:ext cx="0" cy="0"/>
          <a:chOff x="0" y="0"/>
          <a:chExt cx="0" cy="0"/>
        </a:xfrm>
      </p:grpSpPr>
      <p:sp>
        <p:nvSpPr>
          <p:cNvPr id="98" name="Google Shape;98;p2:notes">
            <a:extLst>
              <a:ext uri="{FF2B5EF4-FFF2-40B4-BE49-F238E27FC236}">
                <a16:creationId xmlns:a16="http://schemas.microsoft.com/office/drawing/2014/main" id="{88AD3816-4CA4-F395-0E25-C40946268F69}"/>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9" name="Google Shape;99;p2:notes">
            <a:extLst>
              <a:ext uri="{FF2B5EF4-FFF2-40B4-BE49-F238E27FC236}">
                <a16:creationId xmlns:a16="http://schemas.microsoft.com/office/drawing/2014/main" id="{7780E106-BF11-8AA4-F97B-DF7D7191DB58}"/>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70579699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
          <a:extLst>
            <a:ext uri="{FF2B5EF4-FFF2-40B4-BE49-F238E27FC236}">
              <a16:creationId xmlns:a16="http://schemas.microsoft.com/office/drawing/2014/main" id="{42FE25AC-4AC1-A22C-1BA7-091B0DAF9828}"/>
            </a:ext>
          </a:extLst>
        </p:cNvPr>
        <p:cNvGrpSpPr/>
        <p:nvPr/>
      </p:nvGrpSpPr>
      <p:grpSpPr>
        <a:xfrm>
          <a:off x="0" y="0"/>
          <a:ext cx="0" cy="0"/>
          <a:chOff x="0" y="0"/>
          <a:chExt cx="0" cy="0"/>
        </a:xfrm>
      </p:grpSpPr>
      <p:sp>
        <p:nvSpPr>
          <p:cNvPr id="98" name="Google Shape;98;p2:notes">
            <a:extLst>
              <a:ext uri="{FF2B5EF4-FFF2-40B4-BE49-F238E27FC236}">
                <a16:creationId xmlns:a16="http://schemas.microsoft.com/office/drawing/2014/main" id="{8BA4E5F6-3143-E064-E726-F03A23A865DF}"/>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9" name="Google Shape;99;p2:notes">
            <a:extLst>
              <a:ext uri="{FF2B5EF4-FFF2-40B4-BE49-F238E27FC236}">
                <a16:creationId xmlns:a16="http://schemas.microsoft.com/office/drawing/2014/main" id="{DF812DE3-C86B-47D6-72ED-D9A772958B06}"/>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414304462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
          <a:extLst>
            <a:ext uri="{FF2B5EF4-FFF2-40B4-BE49-F238E27FC236}">
              <a16:creationId xmlns:a16="http://schemas.microsoft.com/office/drawing/2014/main" id="{DA994B13-D4F8-F0E0-95B0-E5AB667A86CD}"/>
            </a:ext>
          </a:extLst>
        </p:cNvPr>
        <p:cNvGrpSpPr/>
        <p:nvPr/>
      </p:nvGrpSpPr>
      <p:grpSpPr>
        <a:xfrm>
          <a:off x="0" y="0"/>
          <a:ext cx="0" cy="0"/>
          <a:chOff x="0" y="0"/>
          <a:chExt cx="0" cy="0"/>
        </a:xfrm>
      </p:grpSpPr>
      <p:sp>
        <p:nvSpPr>
          <p:cNvPr id="98" name="Google Shape;98;p2:notes">
            <a:extLst>
              <a:ext uri="{FF2B5EF4-FFF2-40B4-BE49-F238E27FC236}">
                <a16:creationId xmlns:a16="http://schemas.microsoft.com/office/drawing/2014/main" id="{D78178B3-F0D9-2CD4-CCB0-8C4828A63520}"/>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9" name="Google Shape;99;p2:notes">
            <a:extLst>
              <a:ext uri="{FF2B5EF4-FFF2-40B4-BE49-F238E27FC236}">
                <a16:creationId xmlns:a16="http://schemas.microsoft.com/office/drawing/2014/main" id="{A25DCB73-97D2-7733-BD66-FE8EEC014AC4}"/>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01111519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
          <a:extLst>
            <a:ext uri="{FF2B5EF4-FFF2-40B4-BE49-F238E27FC236}">
              <a16:creationId xmlns:a16="http://schemas.microsoft.com/office/drawing/2014/main" id="{D84BE31E-5BB5-D88E-BE7B-0C7B8B6F902A}"/>
            </a:ext>
          </a:extLst>
        </p:cNvPr>
        <p:cNvGrpSpPr/>
        <p:nvPr/>
      </p:nvGrpSpPr>
      <p:grpSpPr>
        <a:xfrm>
          <a:off x="0" y="0"/>
          <a:ext cx="0" cy="0"/>
          <a:chOff x="0" y="0"/>
          <a:chExt cx="0" cy="0"/>
        </a:xfrm>
      </p:grpSpPr>
      <p:sp>
        <p:nvSpPr>
          <p:cNvPr id="98" name="Google Shape;98;p2:notes">
            <a:extLst>
              <a:ext uri="{FF2B5EF4-FFF2-40B4-BE49-F238E27FC236}">
                <a16:creationId xmlns:a16="http://schemas.microsoft.com/office/drawing/2014/main" id="{21D47949-5EAF-AD7F-1F8B-18CE06763790}"/>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9" name="Google Shape;99;p2:notes">
            <a:extLst>
              <a:ext uri="{FF2B5EF4-FFF2-40B4-BE49-F238E27FC236}">
                <a16:creationId xmlns:a16="http://schemas.microsoft.com/office/drawing/2014/main" id="{663C870D-6A02-4052-91FD-E4DBE3AFA08D}"/>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71796920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
          <a:extLst>
            <a:ext uri="{FF2B5EF4-FFF2-40B4-BE49-F238E27FC236}">
              <a16:creationId xmlns:a16="http://schemas.microsoft.com/office/drawing/2014/main" id="{EBE65047-F887-52CC-AE5E-31854E4D92EE}"/>
            </a:ext>
          </a:extLst>
        </p:cNvPr>
        <p:cNvGrpSpPr/>
        <p:nvPr/>
      </p:nvGrpSpPr>
      <p:grpSpPr>
        <a:xfrm>
          <a:off x="0" y="0"/>
          <a:ext cx="0" cy="0"/>
          <a:chOff x="0" y="0"/>
          <a:chExt cx="0" cy="0"/>
        </a:xfrm>
      </p:grpSpPr>
      <p:sp>
        <p:nvSpPr>
          <p:cNvPr id="98" name="Google Shape;98;p2:notes">
            <a:extLst>
              <a:ext uri="{FF2B5EF4-FFF2-40B4-BE49-F238E27FC236}">
                <a16:creationId xmlns:a16="http://schemas.microsoft.com/office/drawing/2014/main" id="{CB0D35C8-49CE-240D-876B-8AB74EA9E2C3}"/>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9" name="Google Shape;99;p2:notes">
            <a:extLst>
              <a:ext uri="{FF2B5EF4-FFF2-40B4-BE49-F238E27FC236}">
                <a16:creationId xmlns:a16="http://schemas.microsoft.com/office/drawing/2014/main" id="{DB2D4742-C511-C339-BE74-A49B139C1635}"/>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81913009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
          <a:extLst>
            <a:ext uri="{FF2B5EF4-FFF2-40B4-BE49-F238E27FC236}">
              <a16:creationId xmlns:a16="http://schemas.microsoft.com/office/drawing/2014/main" id="{A6D17CE3-3DD6-0EF1-BF7D-9CAE693D0832}"/>
            </a:ext>
          </a:extLst>
        </p:cNvPr>
        <p:cNvGrpSpPr/>
        <p:nvPr/>
      </p:nvGrpSpPr>
      <p:grpSpPr>
        <a:xfrm>
          <a:off x="0" y="0"/>
          <a:ext cx="0" cy="0"/>
          <a:chOff x="0" y="0"/>
          <a:chExt cx="0" cy="0"/>
        </a:xfrm>
      </p:grpSpPr>
      <p:sp>
        <p:nvSpPr>
          <p:cNvPr id="98" name="Google Shape;98;p2:notes">
            <a:extLst>
              <a:ext uri="{FF2B5EF4-FFF2-40B4-BE49-F238E27FC236}">
                <a16:creationId xmlns:a16="http://schemas.microsoft.com/office/drawing/2014/main" id="{F2AF52FB-787D-FB33-DD4B-DA913F019ED7}"/>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9" name="Google Shape;99;p2:notes">
            <a:extLst>
              <a:ext uri="{FF2B5EF4-FFF2-40B4-BE49-F238E27FC236}">
                <a16:creationId xmlns:a16="http://schemas.microsoft.com/office/drawing/2014/main" id="{5F21DF17-B705-6C1F-2F6E-F3263FCBEA56}"/>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03595158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
          <a:extLst>
            <a:ext uri="{FF2B5EF4-FFF2-40B4-BE49-F238E27FC236}">
              <a16:creationId xmlns:a16="http://schemas.microsoft.com/office/drawing/2014/main" id="{F1F2A284-C3F2-EC67-5457-412CE38C519C}"/>
            </a:ext>
          </a:extLst>
        </p:cNvPr>
        <p:cNvGrpSpPr/>
        <p:nvPr/>
      </p:nvGrpSpPr>
      <p:grpSpPr>
        <a:xfrm>
          <a:off x="0" y="0"/>
          <a:ext cx="0" cy="0"/>
          <a:chOff x="0" y="0"/>
          <a:chExt cx="0" cy="0"/>
        </a:xfrm>
      </p:grpSpPr>
      <p:sp>
        <p:nvSpPr>
          <p:cNvPr id="98" name="Google Shape;98;p2:notes">
            <a:extLst>
              <a:ext uri="{FF2B5EF4-FFF2-40B4-BE49-F238E27FC236}">
                <a16:creationId xmlns:a16="http://schemas.microsoft.com/office/drawing/2014/main" id="{B406AC02-8039-BB15-1BFC-17095AA08E72}"/>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9" name="Google Shape;99;p2:notes">
            <a:extLst>
              <a:ext uri="{FF2B5EF4-FFF2-40B4-BE49-F238E27FC236}">
                <a16:creationId xmlns:a16="http://schemas.microsoft.com/office/drawing/2014/main" id="{8494E904-5988-33F1-2880-1718C09D2DCB}"/>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12724539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
          <a:extLst>
            <a:ext uri="{FF2B5EF4-FFF2-40B4-BE49-F238E27FC236}">
              <a16:creationId xmlns:a16="http://schemas.microsoft.com/office/drawing/2014/main" id="{0D33796D-0BBF-27AF-5D86-886D0A0E7ADE}"/>
            </a:ext>
          </a:extLst>
        </p:cNvPr>
        <p:cNvGrpSpPr/>
        <p:nvPr/>
      </p:nvGrpSpPr>
      <p:grpSpPr>
        <a:xfrm>
          <a:off x="0" y="0"/>
          <a:ext cx="0" cy="0"/>
          <a:chOff x="0" y="0"/>
          <a:chExt cx="0" cy="0"/>
        </a:xfrm>
      </p:grpSpPr>
      <p:sp>
        <p:nvSpPr>
          <p:cNvPr id="98" name="Google Shape;98;p2:notes">
            <a:extLst>
              <a:ext uri="{FF2B5EF4-FFF2-40B4-BE49-F238E27FC236}">
                <a16:creationId xmlns:a16="http://schemas.microsoft.com/office/drawing/2014/main" id="{DCC91DB2-30C4-AC9E-AD26-57E51FD17CDD}"/>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9" name="Google Shape;99;p2:notes">
            <a:extLst>
              <a:ext uri="{FF2B5EF4-FFF2-40B4-BE49-F238E27FC236}">
                <a16:creationId xmlns:a16="http://schemas.microsoft.com/office/drawing/2014/main" id="{C5DCFB0F-9D68-6A07-64EA-082B10E7B725}"/>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45478512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
          <a:extLst>
            <a:ext uri="{FF2B5EF4-FFF2-40B4-BE49-F238E27FC236}">
              <a16:creationId xmlns:a16="http://schemas.microsoft.com/office/drawing/2014/main" id="{8480F7CB-0FA3-4FBC-7169-E9CF72CE4191}"/>
            </a:ext>
          </a:extLst>
        </p:cNvPr>
        <p:cNvGrpSpPr/>
        <p:nvPr/>
      </p:nvGrpSpPr>
      <p:grpSpPr>
        <a:xfrm>
          <a:off x="0" y="0"/>
          <a:ext cx="0" cy="0"/>
          <a:chOff x="0" y="0"/>
          <a:chExt cx="0" cy="0"/>
        </a:xfrm>
      </p:grpSpPr>
      <p:sp>
        <p:nvSpPr>
          <p:cNvPr id="98" name="Google Shape;98;p2:notes">
            <a:extLst>
              <a:ext uri="{FF2B5EF4-FFF2-40B4-BE49-F238E27FC236}">
                <a16:creationId xmlns:a16="http://schemas.microsoft.com/office/drawing/2014/main" id="{61682058-181E-C18D-EBAE-24043F704ED9}"/>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9" name="Google Shape;99;p2:notes">
            <a:extLst>
              <a:ext uri="{FF2B5EF4-FFF2-40B4-BE49-F238E27FC236}">
                <a16:creationId xmlns:a16="http://schemas.microsoft.com/office/drawing/2014/main" id="{A84AEB03-7808-3672-B3D3-C644D1B42257}"/>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83303443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
          <a:extLst>
            <a:ext uri="{FF2B5EF4-FFF2-40B4-BE49-F238E27FC236}">
              <a16:creationId xmlns:a16="http://schemas.microsoft.com/office/drawing/2014/main" id="{B5ED57BE-7722-A655-A33A-3B6674DB12DF}"/>
            </a:ext>
          </a:extLst>
        </p:cNvPr>
        <p:cNvGrpSpPr/>
        <p:nvPr/>
      </p:nvGrpSpPr>
      <p:grpSpPr>
        <a:xfrm>
          <a:off x="0" y="0"/>
          <a:ext cx="0" cy="0"/>
          <a:chOff x="0" y="0"/>
          <a:chExt cx="0" cy="0"/>
        </a:xfrm>
      </p:grpSpPr>
      <p:sp>
        <p:nvSpPr>
          <p:cNvPr id="98" name="Google Shape;98;p2:notes">
            <a:extLst>
              <a:ext uri="{FF2B5EF4-FFF2-40B4-BE49-F238E27FC236}">
                <a16:creationId xmlns:a16="http://schemas.microsoft.com/office/drawing/2014/main" id="{D056A80C-850C-7136-3174-C50DB65633B4}"/>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9" name="Google Shape;99;p2:notes">
            <a:extLst>
              <a:ext uri="{FF2B5EF4-FFF2-40B4-BE49-F238E27FC236}">
                <a16:creationId xmlns:a16="http://schemas.microsoft.com/office/drawing/2014/main" id="{6402C926-9372-B68F-EBCC-4709E15C56E0}"/>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35054549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
          <a:extLst>
            <a:ext uri="{FF2B5EF4-FFF2-40B4-BE49-F238E27FC236}">
              <a16:creationId xmlns:a16="http://schemas.microsoft.com/office/drawing/2014/main" id="{160CBD49-9C60-FB96-3746-706E3C71ACA8}"/>
            </a:ext>
          </a:extLst>
        </p:cNvPr>
        <p:cNvGrpSpPr/>
        <p:nvPr/>
      </p:nvGrpSpPr>
      <p:grpSpPr>
        <a:xfrm>
          <a:off x="0" y="0"/>
          <a:ext cx="0" cy="0"/>
          <a:chOff x="0" y="0"/>
          <a:chExt cx="0" cy="0"/>
        </a:xfrm>
      </p:grpSpPr>
      <p:sp>
        <p:nvSpPr>
          <p:cNvPr id="98" name="Google Shape;98;p2:notes">
            <a:extLst>
              <a:ext uri="{FF2B5EF4-FFF2-40B4-BE49-F238E27FC236}">
                <a16:creationId xmlns:a16="http://schemas.microsoft.com/office/drawing/2014/main" id="{78EA18D2-051A-4FFF-BE9E-CA7BAB5C841F}"/>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9" name="Google Shape;99;p2:notes">
            <a:extLst>
              <a:ext uri="{FF2B5EF4-FFF2-40B4-BE49-F238E27FC236}">
                <a16:creationId xmlns:a16="http://schemas.microsoft.com/office/drawing/2014/main" id="{3658B2E8-99FA-6D59-08E0-287BD19B15F0}"/>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59423648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
          <a:extLst>
            <a:ext uri="{FF2B5EF4-FFF2-40B4-BE49-F238E27FC236}">
              <a16:creationId xmlns:a16="http://schemas.microsoft.com/office/drawing/2014/main" id="{24F0A10C-A23B-466E-9850-B89C0DE5D778}"/>
            </a:ext>
          </a:extLst>
        </p:cNvPr>
        <p:cNvGrpSpPr/>
        <p:nvPr/>
      </p:nvGrpSpPr>
      <p:grpSpPr>
        <a:xfrm>
          <a:off x="0" y="0"/>
          <a:ext cx="0" cy="0"/>
          <a:chOff x="0" y="0"/>
          <a:chExt cx="0" cy="0"/>
        </a:xfrm>
      </p:grpSpPr>
      <p:sp>
        <p:nvSpPr>
          <p:cNvPr id="98" name="Google Shape;98;p2:notes">
            <a:extLst>
              <a:ext uri="{FF2B5EF4-FFF2-40B4-BE49-F238E27FC236}">
                <a16:creationId xmlns:a16="http://schemas.microsoft.com/office/drawing/2014/main" id="{E9D50122-FFC4-CA9E-C4BD-6AD43A9E7335}"/>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9" name="Google Shape;99;p2:notes">
            <a:extLst>
              <a:ext uri="{FF2B5EF4-FFF2-40B4-BE49-F238E27FC236}">
                <a16:creationId xmlns:a16="http://schemas.microsoft.com/office/drawing/2014/main" id="{74E81943-F1BF-6513-9F74-36D40595E04F}"/>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72075305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
          <a:extLst>
            <a:ext uri="{FF2B5EF4-FFF2-40B4-BE49-F238E27FC236}">
              <a16:creationId xmlns:a16="http://schemas.microsoft.com/office/drawing/2014/main" id="{24F6320D-C2AE-62E7-E0A5-A30C65EF0367}"/>
            </a:ext>
          </a:extLst>
        </p:cNvPr>
        <p:cNvGrpSpPr/>
        <p:nvPr/>
      </p:nvGrpSpPr>
      <p:grpSpPr>
        <a:xfrm>
          <a:off x="0" y="0"/>
          <a:ext cx="0" cy="0"/>
          <a:chOff x="0" y="0"/>
          <a:chExt cx="0" cy="0"/>
        </a:xfrm>
      </p:grpSpPr>
      <p:sp>
        <p:nvSpPr>
          <p:cNvPr id="98" name="Google Shape;98;p2:notes">
            <a:extLst>
              <a:ext uri="{FF2B5EF4-FFF2-40B4-BE49-F238E27FC236}">
                <a16:creationId xmlns:a16="http://schemas.microsoft.com/office/drawing/2014/main" id="{94573002-81F2-B0B8-9039-C0651B82962F}"/>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9" name="Google Shape;99;p2:notes">
            <a:extLst>
              <a:ext uri="{FF2B5EF4-FFF2-40B4-BE49-F238E27FC236}">
                <a16:creationId xmlns:a16="http://schemas.microsoft.com/office/drawing/2014/main" id="{EEF7ADF5-7C5F-B2CD-02CC-801C0CEEB8F6}"/>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427087710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
          <a:extLst>
            <a:ext uri="{FF2B5EF4-FFF2-40B4-BE49-F238E27FC236}">
              <a16:creationId xmlns:a16="http://schemas.microsoft.com/office/drawing/2014/main" id="{5D450E32-D59C-B55F-5CD2-7AD11EA52D48}"/>
            </a:ext>
          </a:extLst>
        </p:cNvPr>
        <p:cNvGrpSpPr/>
        <p:nvPr/>
      </p:nvGrpSpPr>
      <p:grpSpPr>
        <a:xfrm>
          <a:off x="0" y="0"/>
          <a:ext cx="0" cy="0"/>
          <a:chOff x="0" y="0"/>
          <a:chExt cx="0" cy="0"/>
        </a:xfrm>
      </p:grpSpPr>
      <p:sp>
        <p:nvSpPr>
          <p:cNvPr id="98" name="Google Shape;98;p2:notes">
            <a:extLst>
              <a:ext uri="{FF2B5EF4-FFF2-40B4-BE49-F238E27FC236}">
                <a16:creationId xmlns:a16="http://schemas.microsoft.com/office/drawing/2014/main" id="{3FF06532-DEE2-A256-097C-931EFAA8968E}"/>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9" name="Google Shape;99;p2:notes">
            <a:extLst>
              <a:ext uri="{FF2B5EF4-FFF2-40B4-BE49-F238E27FC236}">
                <a16:creationId xmlns:a16="http://schemas.microsoft.com/office/drawing/2014/main" id="{6B3082D7-F46D-9F0E-14D3-5BA2DB207A2C}"/>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30789360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
          <a:extLst>
            <a:ext uri="{FF2B5EF4-FFF2-40B4-BE49-F238E27FC236}">
              <a16:creationId xmlns:a16="http://schemas.microsoft.com/office/drawing/2014/main" id="{571F4CE3-82D1-579F-1D6B-D22E41CA844F}"/>
            </a:ext>
          </a:extLst>
        </p:cNvPr>
        <p:cNvGrpSpPr/>
        <p:nvPr/>
      </p:nvGrpSpPr>
      <p:grpSpPr>
        <a:xfrm>
          <a:off x="0" y="0"/>
          <a:ext cx="0" cy="0"/>
          <a:chOff x="0" y="0"/>
          <a:chExt cx="0" cy="0"/>
        </a:xfrm>
      </p:grpSpPr>
      <p:sp>
        <p:nvSpPr>
          <p:cNvPr id="98" name="Google Shape;98;p2:notes">
            <a:extLst>
              <a:ext uri="{FF2B5EF4-FFF2-40B4-BE49-F238E27FC236}">
                <a16:creationId xmlns:a16="http://schemas.microsoft.com/office/drawing/2014/main" id="{A347E9FC-0DF1-8C8A-6C93-8D6E73FA4805}"/>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9" name="Google Shape;99;p2:notes">
            <a:extLst>
              <a:ext uri="{FF2B5EF4-FFF2-40B4-BE49-F238E27FC236}">
                <a16:creationId xmlns:a16="http://schemas.microsoft.com/office/drawing/2014/main" id="{036BAC1A-AE63-9CF7-A47D-5F4A158EC936}"/>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75677435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2"/>
        <p:cNvGrpSpPr/>
        <p:nvPr/>
      </p:nvGrpSpPr>
      <p:grpSpPr>
        <a:xfrm>
          <a:off x="0" y="0"/>
          <a:ext cx="0" cy="0"/>
          <a:chOff x="0" y="0"/>
          <a:chExt cx="0" cy="0"/>
        </a:xfrm>
      </p:grpSpPr>
      <p:sp>
        <p:nvSpPr>
          <p:cNvPr id="343" name="Google Shape;343;g374977bb3c6_1_42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44" name="Google Shape;344;g374977bb3c6_1_42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5"/>
        <p:cNvGrpSpPr/>
        <p:nvPr/>
      </p:nvGrpSpPr>
      <p:grpSpPr>
        <a:xfrm>
          <a:off x="0" y="0"/>
          <a:ext cx="0" cy="0"/>
          <a:chOff x="0" y="0"/>
          <a:chExt cx="0" cy="0"/>
        </a:xfrm>
      </p:grpSpPr>
      <p:sp>
        <p:nvSpPr>
          <p:cNvPr id="16" name="Google Shape;16;p4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7" name="Google Shape;17;p4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8" name="Google Shape;18;p4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9"/>
        <p:cNvGrpSpPr/>
        <p:nvPr/>
      </p:nvGrpSpPr>
      <p:grpSpPr>
        <a:xfrm>
          <a:off x="0" y="0"/>
          <a:ext cx="0" cy="0"/>
          <a:chOff x="0" y="0"/>
          <a:chExt cx="0" cy="0"/>
        </a:xfrm>
      </p:grpSpPr>
      <p:sp>
        <p:nvSpPr>
          <p:cNvPr id="20" name="Google Shape;20;p45"/>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1" name="Google Shape;21;p45"/>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22" name="Google Shape;22;p4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3" name="Google Shape;23;p4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4" name="Google Shape;24;p4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5"/>
        <p:cNvGrpSpPr/>
        <p:nvPr/>
      </p:nvGrpSpPr>
      <p:grpSpPr>
        <a:xfrm>
          <a:off x="0" y="0"/>
          <a:ext cx="0" cy="0"/>
          <a:chOff x="0" y="0"/>
          <a:chExt cx="0" cy="0"/>
        </a:xfrm>
      </p:grpSpPr>
      <p:sp>
        <p:nvSpPr>
          <p:cNvPr id="26" name="Google Shape;26;p4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7" name="Google Shape;27;p46"/>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8" name="Google Shape;28;p4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9" name="Google Shape;29;p4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0" name="Google Shape;30;p4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31"/>
        <p:cNvGrpSpPr/>
        <p:nvPr/>
      </p:nvGrpSpPr>
      <p:grpSpPr>
        <a:xfrm>
          <a:off x="0" y="0"/>
          <a:ext cx="0" cy="0"/>
          <a:chOff x="0" y="0"/>
          <a:chExt cx="0" cy="0"/>
        </a:xfrm>
      </p:grpSpPr>
      <p:sp>
        <p:nvSpPr>
          <p:cNvPr id="32" name="Google Shape;32;p47"/>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3" name="Google Shape;33;p47"/>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34" name="Google Shape;34;p4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5" name="Google Shape;35;p4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6" name="Google Shape;36;p4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7"/>
        <p:cNvGrpSpPr/>
        <p:nvPr/>
      </p:nvGrpSpPr>
      <p:grpSpPr>
        <a:xfrm>
          <a:off x="0" y="0"/>
          <a:ext cx="0" cy="0"/>
          <a:chOff x="0" y="0"/>
          <a:chExt cx="0" cy="0"/>
        </a:xfrm>
      </p:grpSpPr>
      <p:sp>
        <p:nvSpPr>
          <p:cNvPr id="38" name="Google Shape;38;p48"/>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9" name="Google Shape;39;p48"/>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0" name="Google Shape;40;p48"/>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1" name="Google Shape;41;p4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2" name="Google Shape;42;p4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3" name="Google Shape;43;p4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4"/>
        <p:cNvGrpSpPr/>
        <p:nvPr/>
      </p:nvGrpSpPr>
      <p:grpSpPr>
        <a:xfrm>
          <a:off x="0" y="0"/>
          <a:ext cx="0" cy="0"/>
          <a:chOff x="0" y="0"/>
          <a:chExt cx="0" cy="0"/>
        </a:xfrm>
      </p:grpSpPr>
      <p:sp>
        <p:nvSpPr>
          <p:cNvPr id="45" name="Google Shape;45;p49"/>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6" name="Google Shape;46;p49"/>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7" name="Google Shape;47;p49"/>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8" name="Google Shape;48;p49"/>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9" name="Google Shape;49;p49"/>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0" name="Google Shape;50;p4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1" name="Google Shape;51;p4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2" name="Google Shape;52;p4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53"/>
        <p:cNvGrpSpPr/>
        <p:nvPr/>
      </p:nvGrpSpPr>
      <p:grpSpPr>
        <a:xfrm>
          <a:off x="0" y="0"/>
          <a:ext cx="0" cy="0"/>
          <a:chOff x="0" y="0"/>
          <a:chExt cx="0" cy="0"/>
        </a:xfrm>
      </p:grpSpPr>
      <p:sp>
        <p:nvSpPr>
          <p:cNvPr id="54" name="Google Shape;54;p50"/>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5" name="Google Shape;55;p5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6" name="Google Shape;56;p5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7" name="Google Shape;57;p5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8"/>
        <p:cNvGrpSpPr/>
        <p:nvPr/>
      </p:nvGrpSpPr>
      <p:grpSpPr>
        <a:xfrm>
          <a:off x="0" y="0"/>
          <a:ext cx="0" cy="0"/>
          <a:chOff x="0" y="0"/>
          <a:chExt cx="0" cy="0"/>
        </a:xfrm>
      </p:grpSpPr>
      <p:sp>
        <p:nvSpPr>
          <p:cNvPr id="59" name="Google Shape;59;p51"/>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0" name="Google Shape;60;p51"/>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61" name="Google Shape;61;p51"/>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2" name="Google Shape;62;p5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3" name="Google Shape;63;p5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4" name="Google Shape;64;p5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5"/>
        <p:cNvGrpSpPr/>
        <p:nvPr/>
      </p:nvGrpSpPr>
      <p:grpSpPr>
        <a:xfrm>
          <a:off x="0" y="0"/>
          <a:ext cx="0" cy="0"/>
          <a:chOff x="0" y="0"/>
          <a:chExt cx="0" cy="0"/>
        </a:xfrm>
      </p:grpSpPr>
      <p:sp>
        <p:nvSpPr>
          <p:cNvPr id="66" name="Google Shape;66;p52"/>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7" name="Google Shape;67;p52"/>
          <p:cNvSpPr>
            <a:spLocks noGrp="1"/>
          </p:cNvSpPr>
          <p:nvPr>
            <p:ph type="pic" idx="2"/>
          </p:nvPr>
        </p:nvSpPr>
        <p:spPr>
          <a:xfrm>
            <a:off x="5183188" y="987425"/>
            <a:ext cx="6172200" cy="4873625"/>
          </a:xfrm>
          <a:prstGeom prst="rect">
            <a:avLst/>
          </a:prstGeom>
          <a:noFill/>
          <a:ln>
            <a:noFill/>
          </a:ln>
        </p:spPr>
      </p:sp>
      <p:sp>
        <p:nvSpPr>
          <p:cNvPr id="68" name="Google Shape;68;p52"/>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9" name="Google Shape;69;p5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0" name="Google Shape;70;p5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1" name="Google Shape;71;p5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2"/>
        <p:cNvGrpSpPr/>
        <p:nvPr/>
      </p:nvGrpSpPr>
      <p:grpSpPr>
        <a:xfrm>
          <a:off x="0" y="0"/>
          <a:ext cx="0" cy="0"/>
          <a:chOff x="0" y="0"/>
          <a:chExt cx="0" cy="0"/>
        </a:xfrm>
      </p:grpSpPr>
      <p:sp>
        <p:nvSpPr>
          <p:cNvPr id="73" name="Google Shape;73;p5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4" name="Google Shape;74;p53"/>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5" name="Google Shape;75;p5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6" name="Google Shape;76;p5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7" name="Google Shape;77;p5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8"/>
        <p:cNvGrpSpPr/>
        <p:nvPr/>
      </p:nvGrpSpPr>
      <p:grpSpPr>
        <a:xfrm>
          <a:off x="0" y="0"/>
          <a:ext cx="0" cy="0"/>
          <a:chOff x="0" y="0"/>
          <a:chExt cx="0" cy="0"/>
        </a:xfrm>
      </p:grpSpPr>
      <p:sp>
        <p:nvSpPr>
          <p:cNvPr id="79" name="Google Shape;79;p54"/>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0" name="Google Shape;80;p54"/>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1" name="Google Shape;81;p5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2" name="Google Shape;82;p5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3" name="Google Shape;83;p5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dk1"/>
        </a:solidFill>
        <a:effectLst/>
      </p:bgPr>
    </p:bg>
    <p:spTree>
      <p:nvGrpSpPr>
        <p:cNvPr id="1" name="Shape 9"/>
        <p:cNvGrpSpPr/>
        <p:nvPr/>
      </p:nvGrpSpPr>
      <p:grpSpPr>
        <a:xfrm>
          <a:off x="0" y="0"/>
          <a:ext cx="0" cy="0"/>
          <a:chOff x="0" y="0"/>
          <a:chExt cx="0" cy="0"/>
        </a:xfrm>
      </p:grpSpPr>
      <p:sp>
        <p:nvSpPr>
          <p:cNvPr id="10" name="Google Shape;10;p4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43"/>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2" name="Google Shape;12;p4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4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4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hyperlink" Target="https://www.linkedin.com/in/mohitjoshi2425" TargetMode="Externa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7.png"/></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7.png"/></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image" Target="../media/image8.png"/></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1.xml"/><Relationship Id="rId4" Type="http://schemas.openxmlformats.org/officeDocument/2006/relationships/image" Target="../media/image8.png"/></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1.xml"/><Relationship Id="rId4" Type="http://schemas.openxmlformats.org/officeDocument/2006/relationships/image" Target="../media/image9.png"/></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8.xml"/><Relationship Id="rId1" Type="http://schemas.openxmlformats.org/officeDocument/2006/relationships/slideLayout" Target="../slideLayouts/slideLayout1.xml"/><Relationship Id="rId4" Type="http://schemas.openxmlformats.org/officeDocument/2006/relationships/hyperlink" Target="https://colab.research.google.com/drive/1yX3lYNlOp6_aZXNCCSKKViRYAYwlV76A?usp=sharing" TargetMode="External"/></Relationships>
</file>

<file path=ppt/slides/_rels/slide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7"/>
        <p:cNvGrpSpPr/>
        <p:nvPr/>
      </p:nvGrpSpPr>
      <p:grpSpPr>
        <a:xfrm>
          <a:off x="0" y="0"/>
          <a:ext cx="0" cy="0"/>
          <a:chOff x="0" y="0"/>
          <a:chExt cx="0" cy="0"/>
        </a:xfrm>
      </p:grpSpPr>
      <p:sp>
        <p:nvSpPr>
          <p:cNvPr id="88" name="Google Shape;88;p1"/>
          <p:cNvSpPr/>
          <p:nvPr/>
        </p:nvSpPr>
        <p:spPr>
          <a:xfrm rot="2689612">
            <a:off x="-4625726" y="-2688925"/>
            <a:ext cx="9777014" cy="8127143"/>
          </a:xfrm>
          <a:custGeom>
            <a:avLst/>
            <a:gdLst/>
            <a:ahLst/>
            <a:cxnLst/>
            <a:rect l="l" t="t" r="r" b="b"/>
            <a:pathLst>
              <a:path w="9777014" h="8127143" extrusionOk="0">
                <a:moveTo>
                  <a:pt x="0" y="0"/>
                </a:moveTo>
                <a:lnTo>
                  <a:pt x="9777013" y="0"/>
                </a:lnTo>
                <a:lnTo>
                  <a:pt x="9777013" y="8127142"/>
                </a:lnTo>
                <a:lnTo>
                  <a:pt x="0" y="8127142"/>
                </a:lnTo>
                <a:lnTo>
                  <a:pt x="0" y="0"/>
                </a:lnTo>
                <a:close/>
              </a:path>
            </a:pathLst>
          </a:custGeom>
          <a:blipFill rotWithShape="1">
            <a:blip r:embed="rId3">
              <a:alphaModFix amt="75000"/>
            </a:blip>
            <a:stretch>
              <a:fillRect/>
            </a:stretch>
          </a:blip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89" name="Google Shape;89;p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IN"/>
              <a:t>1</a:t>
            </a:fld>
            <a:endParaRPr/>
          </a:p>
        </p:txBody>
      </p:sp>
      <p:pic>
        <p:nvPicPr>
          <p:cNvPr id="90" name="Google Shape;90;p1"/>
          <p:cNvPicPr preferRelativeResize="0"/>
          <p:nvPr/>
        </p:nvPicPr>
        <p:blipFill rotWithShape="1">
          <a:blip r:embed="rId4">
            <a:alphaModFix amt="70000"/>
          </a:blip>
          <a:srcRect t="7026" r="31756" b="32024"/>
          <a:stretch/>
        </p:blipFill>
        <p:spPr>
          <a:xfrm>
            <a:off x="8610600" y="4573429"/>
            <a:ext cx="4212000" cy="3456000"/>
          </a:xfrm>
          <a:prstGeom prst="rect">
            <a:avLst/>
          </a:prstGeom>
          <a:noFill/>
          <a:ln>
            <a:noFill/>
          </a:ln>
        </p:spPr>
      </p:pic>
      <p:sp>
        <p:nvSpPr>
          <p:cNvPr id="91" name="Google Shape;91;p1"/>
          <p:cNvSpPr txBox="1"/>
          <p:nvPr/>
        </p:nvSpPr>
        <p:spPr>
          <a:xfrm>
            <a:off x="779400" y="2905800"/>
            <a:ext cx="10633200" cy="1261844"/>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3800"/>
              <a:buFont typeface="Arial"/>
              <a:buNone/>
            </a:pPr>
            <a:r>
              <a:rPr lang="en-IN" sz="3800" b="1" dirty="0">
                <a:solidFill>
                  <a:srgbClr val="FFD966"/>
                </a:solidFill>
                <a:latin typeface="Roboto"/>
                <a:ea typeface="Roboto"/>
                <a:cs typeface="Roboto"/>
                <a:sym typeface="Roboto"/>
              </a:rPr>
              <a:t>Decoding the rules of RNA colocalization</a:t>
            </a:r>
          </a:p>
          <a:p>
            <a:pPr marL="0" marR="0" lvl="0" indent="0" algn="ctr" rtl="0">
              <a:lnSpc>
                <a:spcPct val="100000"/>
              </a:lnSpc>
              <a:spcBef>
                <a:spcPts val="0"/>
              </a:spcBef>
              <a:spcAft>
                <a:spcPts val="0"/>
              </a:spcAft>
              <a:buClr>
                <a:srgbClr val="000000"/>
              </a:buClr>
              <a:buSzPts val="3800"/>
              <a:buFont typeface="Arial"/>
              <a:buNone/>
            </a:pPr>
            <a:r>
              <a:rPr lang="en-IN" sz="3800" b="1" dirty="0">
                <a:solidFill>
                  <a:srgbClr val="FFD966"/>
                </a:solidFill>
                <a:latin typeface="Roboto"/>
                <a:ea typeface="Roboto"/>
                <a:cs typeface="Roboto"/>
                <a:sym typeface="Roboto"/>
              </a:rPr>
              <a:t>Session 2</a:t>
            </a:r>
            <a:endParaRPr sz="3800" b="1" dirty="0">
              <a:solidFill>
                <a:srgbClr val="FFD966"/>
              </a:solidFill>
              <a:latin typeface="Roboto"/>
              <a:ea typeface="Roboto"/>
              <a:cs typeface="Roboto"/>
              <a:sym typeface="Roboto"/>
            </a:endParaRPr>
          </a:p>
        </p:txBody>
      </p:sp>
      <p:sp>
        <p:nvSpPr>
          <p:cNvPr id="93" name="Google Shape;93;p1"/>
          <p:cNvSpPr txBox="1"/>
          <p:nvPr/>
        </p:nvSpPr>
        <p:spPr>
          <a:xfrm>
            <a:off x="3048000" y="3244334"/>
            <a:ext cx="6096000" cy="36933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94" name="Google Shape;94;p1"/>
          <p:cNvSpPr txBox="1"/>
          <p:nvPr/>
        </p:nvSpPr>
        <p:spPr>
          <a:xfrm>
            <a:off x="3048000" y="3244334"/>
            <a:ext cx="6096000" cy="36933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95" name="Google Shape;95;p1"/>
          <p:cNvSpPr txBox="1"/>
          <p:nvPr/>
        </p:nvSpPr>
        <p:spPr>
          <a:xfrm>
            <a:off x="3048000" y="3244334"/>
            <a:ext cx="6096000" cy="36933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96" name="Google Shape;96;p1"/>
          <p:cNvSpPr txBox="1"/>
          <p:nvPr/>
        </p:nvSpPr>
        <p:spPr>
          <a:xfrm>
            <a:off x="3048000" y="3244334"/>
            <a:ext cx="6096000" cy="36933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3" name="TextBox 2">
            <a:extLst>
              <a:ext uri="{FF2B5EF4-FFF2-40B4-BE49-F238E27FC236}">
                <a16:creationId xmlns:a16="http://schemas.microsoft.com/office/drawing/2014/main" id="{8FF75F0F-3B82-AB00-2D8C-D98D22EF837E}"/>
              </a:ext>
            </a:extLst>
          </p:cNvPr>
          <p:cNvSpPr txBox="1"/>
          <p:nvPr/>
        </p:nvSpPr>
        <p:spPr>
          <a:xfrm>
            <a:off x="1635190" y="4981169"/>
            <a:ext cx="2712875" cy="1200329"/>
          </a:xfrm>
          <a:prstGeom prst="rect">
            <a:avLst/>
          </a:prstGeom>
          <a:noFill/>
        </p:spPr>
        <p:txBody>
          <a:bodyPr wrap="square">
            <a:spAutoFit/>
          </a:bodyPr>
          <a:lstStyle/>
          <a:p>
            <a:pPr marL="0" marR="0" lvl="0" indent="0" algn="l" rtl="0">
              <a:lnSpc>
                <a:spcPct val="100000"/>
              </a:lnSpc>
              <a:spcBef>
                <a:spcPts val="0"/>
              </a:spcBef>
              <a:spcAft>
                <a:spcPts val="0"/>
              </a:spcAft>
              <a:buClr>
                <a:srgbClr val="000000"/>
              </a:buClr>
              <a:buSzPts val="3600"/>
              <a:buFont typeface="Arial"/>
              <a:buNone/>
            </a:pPr>
            <a:r>
              <a:rPr lang="en-US" sz="3000" b="0" i="0" u="sng" strike="noStrike" cap="none" dirty="0">
                <a:solidFill>
                  <a:schemeClr val="lt1"/>
                </a:solidFill>
                <a:latin typeface="Roboto" panose="02000000000000000000" pitchFamily="2" charset="0"/>
                <a:ea typeface="Roboto" panose="02000000000000000000" pitchFamily="2" charset="0"/>
                <a:sym typeface="Arial"/>
                <a:hlinkClick r:id="rId5">
                  <a:extLst>
                    <a:ext uri="{A12FA001-AC4F-418D-AE19-62706E023703}">
                      <ahyp:hlinkClr xmlns:ahyp="http://schemas.microsoft.com/office/drawing/2018/hyperlinkcolor" val="tx"/>
                    </a:ext>
                  </a:extLst>
                </a:hlinkClick>
              </a:rPr>
              <a:t>Mohit Joshi</a:t>
            </a:r>
            <a:r>
              <a:rPr lang="en-US" sz="3000" b="0" i="0" u="none" strike="noStrike" cap="none" dirty="0">
                <a:solidFill>
                  <a:schemeClr val="lt1"/>
                </a:solidFill>
                <a:latin typeface="Roboto" panose="02000000000000000000" pitchFamily="2" charset="0"/>
                <a:ea typeface="Roboto" panose="02000000000000000000" pitchFamily="2" charset="0"/>
                <a:sym typeface="Arial"/>
              </a:rPr>
              <a:t> </a:t>
            </a:r>
          </a:p>
          <a:p>
            <a:pPr marL="0" marR="0" lvl="0" indent="0" algn="l" rtl="0">
              <a:lnSpc>
                <a:spcPct val="100000"/>
              </a:lnSpc>
              <a:spcBef>
                <a:spcPts val="0"/>
              </a:spcBef>
              <a:spcAft>
                <a:spcPts val="0"/>
              </a:spcAft>
              <a:buClr>
                <a:srgbClr val="000000"/>
              </a:buClr>
              <a:buSzPts val="3600"/>
              <a:buFont typeface="Arial"/>
              <a:buNone/>
            </a:pPr>
            <a:r>
              <a:rPr lang="en-US" b="0" i="0" u="none" strike="noStrike" cap="none" dirty="0">
                <a:solidFill>
                  <a:schemeClr val="lt1"/>
                </a:solidFill>
                <a:latin typeface="Roboto" panose="02000000000000000000" pitchFamily="2" charset="0"/>
                <a:ea typeface="Roboto" panose="02000000000000000000" pitchFamily="2" charset="0"/>
                <a:sym typeface="Arial"/>
              </a:rPr>
              <a:t>BTech Biotechnology </a:t>
            </a:r>
            <a:endParaRPr lang="en-US" b="0" i="0" u="none" strike="noStrike" cap="none" dirty="0">
              <a:solidFill>
                <a:srgbClr val="000000"/>
              </a:solidFill>
              <a:latin typeface="Roboto" panose="02000000000000000000" pitchFamily="2" charset="0"/>
              <a:ea typeface="Roboto" panose="02000000000000000000" pitchFamily="2" charset="0"/>
              <a:sym typeface="Arial"/>
            </a:endParaRPr>
          </a:p>
          <a:p>
            <a:pPr marL="0" marR="0" lvl="0" indent="0" algn="l" rtl="0">
              <a:lnSpc>
                <a:spcPct val="100000"/>
              </a:lnSpc>
              <a:spcBef>
                <a:spcPts val="0"/>
              </a:spcBef>
              <a:spcAft>
                <a:spcPts val="0"/>
              </a:spcAft>
              <a:buClr>
                <a:srgbClr val="000000"/>
              </a:buClr>
              <a:buSzPts val="3600"/>
              <a:buFont typeface="Arial"/>
              <a:buNone/>
            </a:pPr>
            <a:r>
              <a:rPr lang="en-US" b="0" i="0" u="none" strike="noStrike" cap="none" dirty="0">
                <a:solidFill>
                  <a:schemeClr val="lt1"/>
                </a:solidFill>
                <a:latin typeface="Roboto" panose="02000000000000000000" pitchFamily="2" charset="0"/>
                <a:ea typeface="Roboto" panose="02000000000000000000" pitchFamily="2" charset="0"/>
                <a:sym typeface="Arial"/>
              </a:rPr>
              <a:t>Semester 7</a:t>
            </a:r>
            <a:endParaRPr lang="en-US" b="0" i="0" u="none" strike="noStrike" cap="none" dirty="0">
              <a:solidFill>
                <a:srgbClr val="000000"/>
              </a:solidFill>
              <a:latin typeface="Roboto" panose="02000000000000000000" pitchFamily="2" charset="0"/>
              <a:ea typeface="Roboto" panose="02000000000000000000" pitchFamily="2" charset="0"/>
              <a:sym typeface="Arial"/>
            </a:endParaRPr>
          </a:p>
          <a:p>
            <a:pPr marL="0" marR="0" lvl="0" indent="0" algn="l" rtl="0">
              <a:lnSpc>
                <a:spcPct val="100000"/>
              </a:lnSpc>
              <a:spcBef>
                <a:spcPts val="0"/>
              </a:spcBef>
              <a:spcAft>
                <a:spcPts val="0"/>
              </a:spcAft>
              <a:buClr>
                <a:srgbClr val="000000"/>
              </a:buClr>
              <a:buSzPts val="3600"/>
              <a:buFont typeface="Arial"/>
              <a:buNone/>
            </a:pPr>
            <a:r>
              <a:rPr lang="en-US" b="0" i="0" u="none" strike="noStrike" cap="none" dirty="0">
                <a:solidFill>
                  <a:schemeClr val="lt1"/>
                </a:solidFill>
                <a:latin typeface="Roboto" panose="02000000000000000000" pitchFamily="2" charset="0"/>
                <a:ea typeface="Roboto" panose="02000000000000000000" pitchFamily="2" charset="0"/>
                <a:sym typeface="Arial"/>
              </a:rPr>
              <a:t>Institute of Advanced Research</a:t>
            </a:r>
            <a:endParaRPr lang="en-US" b="0" i="0" u="none" strike="noStrike" cap="none" dirty="0">
              <a:solidFill>
                <a:srgbClr val="000000"/>
              </a:solidFill>
              <a:latin typeface="Roboto" panose="02000000000000000000" pitchFamily="2" charset="0"/>
              <a:ea typeface="Roboto" panose="02000000000000000000" pitchFamily="2" charset="0"/>
              <a:sym typeface="Arial"/>
            </a:endParaRPr>
          </a:p>
        </p:txBody>
      </p:sp>
    </p:spTree>
  </p:cSld>
  <p:clrMapOvr>
    <a:masterClrMapping/>
  </p:clrMapOvr>
  <mc:AlternateContent xmlns:mc="http://schemas.openxmlformats.org/markup-compatibility/2006" xmlns:p14="http://schemas.microsoft.com/office/powerpoint/2010/main">
    <mc:Choice Requires="p14">
      <p:transition spd="slow">
        <p14:reveal/>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00"/>
        <p:cNvGrpSpPr/>
        <p:nvPr/>
      </p:nvGrpSpPr>
      <p:grpSpPr>
        <a:xfrm>
          <a:off x="0" y="0"/>
          <a:ext cx="0" cy="0"/>
          <a:chOff x="0" y="0"/>
          <a:chExt cx="0" cy="0"/>
        </a:xfrm>
      </p:grpSpPr>
      <p:sp>
        <p:nvSpPr>
          <p:cNvPr id="2" name="Google Shape;122;g374977bb3c6_1_11">
            <a:extLst>
              <a:ext uri="{FF2B5EF4-FFF2-40B4-BE49-F238E27FC236}">
                <a16:creationId xmlns:a16="http://schemas.microsoft.com/office/drawing/2014/main" id="{C8FB727C-C5D7-096A-FAE5-0AAF0AFB2129}"/>
              </a:ext>
            </a:extLst>
          </p:cNvPr>
          <p:cNvSpPr/>
          <p:nvPr/>
        </p:nvSpPr>
        <p:spPr>
          <a:xfrm>
            <a:off x="304800" y="171323"/>
            <a:ext cx="11582400" cy="6185027"/>
          </a:xfrm>
          <a:prstGeom prst="roundRect">
            <a:avLst>
              <a:gd name="adj" fmla="val 6449"/>
            </a:avLst>
          </a:prstGeom>
          <a:solidFill>
            <a:srgbClr val="262626">
              <a:alpha val="50000"/>
            </a:srgbClr>
          </a:solidFill>
          <a:ln w="12700" cap="flat" cmpd="sng">
            <a:solidFill>
              <a:srgbClr val="1C305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01" name="Google Shape;101;p2"/>
          <p:cNvSpPr/>
          <p:nvPr/>
        </p:nvSpPr>
        <p:spPr>
          <a:xfrm rot="2687220">
            <a:off x="-880866" y="-3237709"/>
            <a:ext cx="13947867" cy="9884465"/>
          </a:xfrm>
          <a:custGeom>
            <a:avLst/>
            <a:gdLst/>
            <a:ahLst/>
            <a:cxnLst/>
            <a:rect l="l" t="t" r="r" b="b"/>
            <a:pathLst>
              <a:path w="9777014" h="8127143" extrusionOk="0">
                <a:moveTo>
                  <a:pt x="0" y="0"/>
                </a:moveTo>
                <a:lnTo>
                  <a:pt x="9777013" y="0"/>
                </a:lnTo>
                <a:lnTo>
                  <a:pt x="9777013" y="8127142"/>
                </a:lnTo>
                <a:lnTo>
                  <a:pt x="0" y="8127142"/>
                </a:lnTo>
                <a:lnTo>
                  <a:pt x="0" y="0"/>
                </a:lnTo>
                <a:close/>
              </a:path>
            </a:pathLst>
          </a:custGeom>
          <a:blipFill rotWithShape="1">
            <a:blip r:embed="rId3">
              <a:alphaModFix amt="20000"/>
            </a:blip>
            <a:stretch>
              <a:fillRect/>
            </a:stretch>
          </a:blipFill>
          <a:ln>
            <a:noFill/>
          </a:ln>
          <a:effectLst>
            <a:outerShdw blurRad="50800" dist="50800" dir="5400000" algn="ctr" rotWithShape="0">
              <a:srgbClr val="000000"/>
            </a:outerShdw>
          </a:effectLst>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102" name="Google Shape;102;p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IN"/>
              <a:t>2</a:t>
            </a:fld>
            <a:endParaRPr/>
          </a:p>
        </p:txBody>
      </p:sp>
      <p:sp>
        <p:nvSpPr>
          <p:cNvPr id="103" name="Google Shape;103;p2"/>
          <p:cNvSpPr txBox="1"/>
          <p:nvPr/>
        </p:nvSpPr>
        <p:spPr>
          <a:xfrm>
            <a:off x="2094089" y="2448248"/>
            <a:ext cx="7997955" cy="1631175"/>
          </a:xfrm>
          <a:prstGeom prst="rect">
            <a:avLst/>
          </a:prstGeom>
          <a:noFill/>
          <a:ln>
            <a:noFill/>
          </a:ln>
        </p:spPr>
        <p:txBody>
          <a:bodyPr spcFirstLastPara="1" wrap="square" lIns="91425" tIns="45700" rIns="91425" bIns="45700" anchor="t" anchorCtr="0">
            <a:spAutoFit/>
          </a:bodyPr>
          <a:lstStyle/>
          <a:p>
            <a:pPr marL="0" marR="0" lvl="0" indent="0" algn="just" rtl="0">
              <a:lnSpc>
                <a:spcPct val="100000"/>
              </a:lnSpc>
              <a:spcBef>
                <a:spcPts val="0"/>
              </a:spcBef>
              <a:spcAft>
                <a:spcPts val="0"/>
              </a:spcAft>
              <a:buClr>
                <a:srgbClr val="000000"/>
              </a:buClr>
              <a:buSzPts val="5400"/>
              <a:buFont typeface="Arial"/>
              <a:buNone/>
            </a:pPr>
            <a:r>
              <a:rPr lang="en-US" sz="2500" i="1" u="none" strike="noStrike" cap="none" dirty="0">
                <a:solidFill>
                  <a:schemeClr val="bg1"/>
                </a:solidFill>
                <a:latin typeface="Times New Roman" panose="02020603050405020304" pitchFamily="18" charset="0"/>
                <a:ea typeface="Roboto" panose="02000000000000000000" pitchFamily="2" charset="0"/>
                <a:cs typeface="Times New Roman" panose="02020603050405020304" pitchFamily="18" charset="0"/>
                <a:sym typeface="Roboto Light"/>
              </a:rPr>
              <a:t>“The central dogma tells us which genes are expressed, but not where in the cell those gene products operate - or how RNAs are spatially organized to carry out coordinated functions and their location.”</a:t>
            </a:r>
            <a:endParaRPr sz="2500" i="1" u="none" strike="noStrike" cap="none" dirty="0">
              <a:solidFill>
                <a:schemeClr val="bg1"/>
              </a:solidFill>
              <a:latin typeface="Times New Roman" panose="02020603050405020304" pitchFamily="18" charset="0"/>
              <a:ea typeface="Roboto" panose="02000000000000000000" pitchFamily="2" charset="0"/>
              <a:cs typeface="Times New Roman" panose="02020603050405020304" pitchFamily="18" charset="0"/>
              <a:sym typeface="Roboto Light"/>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0">
          <a:extLst>
            <a:ext uri="{FF2B5EF4-FFF2-40B4-BE49-F238E27FC236}">
              <a16:creationId xmlns:a16="http://schemas.microsoft.com/office/drawing/2014/main" id="{34A74D85-3A1B-8E09-D5C0-BA0AD64419F2}"/>
            </a:ext>
          </a:extLst>
        </p:cNvPr>
        <p:cNvGrpSpPr/>
        <p:nvPr/>
      </p:nvGrpSpPr>
      <p:grpSpPr>
        <a:xfrm>
          <a:off x="0" y="0"/>
          <a:ext cx="0" cy="0"/>
          <a:chOff x="0" y="0"/>
          <a:chExt cx="0" cy="0"/>
        </a:xfrm>
      </p:grpSpPr>
      <p:sp>
        <p:nvSpPr>
          <p:cNvPr id="101" name="Google Shape;101;p2">
            <a:extLst>
              <a:ext uri="{FF2B5EF4-FFF2-40B4-BE49-F238E27FC236}">
                <a16:creationId xmlns:a16="http://schemas.microsoft.com/office/drawing/2014/main" id="{E3BB1E96-07E3-99FB-5924-DA78D56DC072}"/>
              </a:ext>
            </a:extLst>
          </p:cNvPr>
          <p:cNvSpPr/>
          <p:nvPr/>
        </p:nvSpPr>
        <p:spPr>
          <a:xfrm rot="2687220">
            <a:off x="-880866" y="-3237709"/>
            <a:ext cx="13947867" cy="9884465"/>
          </a:xfrm>
          <a:custGeom>
            <a:avLst/>
            <a:gdLst/>
            <a:ahLst/>
            <a:cxnLst/>
            <a:rect l="l" t="t" r="r" b="b"/>
            <a:pathLst>
              <a:path w="9777014" h="8127143" extrusionOk="0">
                <a:moveTo>
                  <a:pt x="0" y="0"/>
                </a:moveTo>
                <a:lnTo>
                  <a:pt x="9777013" y="0"/>
                </a:lnTo>
                <a:lnTo>
                  <a:pt x="9777013" y="8127142"/>
                </a:lnTo>
                <a:lnTo>
                  <a:pt x="0" y="8127142"/>
                </a:lnTo>
                <a:lnTo>
                  <a:pt x="0" y="0"/>
                </a:lnTo>
                <a:close/>
              </a:path>
            </a:pathLst>
          </a:custGeom>
          <a:blipFill rotWithShape="1">
            <a:blip r:embed="rId3">
              <a:alphaModFix amt="20000"/>
            </a:blip>
            <a:stretch>
              <a:fillRect/>
            </a:stretch>
          </a:blipFill>
          <a:ln>
            <a:noFill/>
          </a:ln>
          <a:effectLst>
            <a:outerShdw blurRad="50800" dist="50800" dir="5400000" algn="ctr" rotWithShape="0">
              <a:srgbClr val="000000"/>
            </a:outerShdw>
          </a:effectLst>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102" name="Google Shape;102;p2">
            <a:extLst>
              <a:ext uri="{FF2B5EF4-FFF2-40B4-BE49-F238E27FC236}">
                <a16:creationId xmlns:a16="http://schemas.microsoft.com/office/drawing/2014/main" id="{9AD67166-854B-715D-BD5A-FFAFA8574AF5}"/>
              </a:ext>
            </a:extLst>
          </p:cNvPr>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IN"/>
              <a:t>3</a:t>
            </a:fld>
            <a:endParaRPr/>
          </a:p>
        </p:txBody>
      </p:sp>
      <p:sp>
        <p:nvSpPr>
          <p:cNvPr id="4" name="TextBox 3">
            <a:extLst>
              <a:ext uri="{FF2B5EF4-FFF2-40B4-BE49-F238E27FC236}">
                <a16:creationId xmlns:a16="http://schemas.microsoft.com/office/drawing/2014/main" id="{E55351E0-9752-B8BB-DB14-3A49C1EDB7D4}"/>
              </a:ext>
            </a:extLst>
          </p:cNvPr>
          <p:cNvSpPr txBox="1"/>
          <p:nvPr/>
        </p:nvSpPr>
        <p:spPr>
          <a:xfrm>
            <a:off x="843280" y="1228397"/>
            <a:ext cx="10510520" cy="2308324"/>
          </a:xfrm>
          <a:prstGeom prst="rect">
            <a:avLst/>
          </a:prstGeom>
          <a:noFill/>
        </p:spPr>
        <p:txBody>
          <a:bodyPr wrap="square">
            <a:spAutoFit/>
          </a:bodyPr>
          <a:lstStyle/>
          <a:p>
            <a:r>
              <a:rPr lang="en-IN" sz="2200" i="1" dirty="0">
                <a:solidFill>
                  <a:schemeClr val="bg1"/>
                </a:solidFill>
                <a:latin typeface="Georgia" panose="02040502050405020303" pitchFamily="18" charset="0"/>
                <a:ea typeface="Roboto" panose="02000000000000000000" pitchFamily="2" charset="0"/>
                <a:cs typeface="Roboto Light"/>
                <a:sym typeface="Roboto Light"/>
              </a:rPr>
              <a:t>Hypothesis</a:t>
            </a:r>
            <a:r>
              <a:rPr lang="en-IN" sz="2000" b="1" dirty="0">
                <a:solidFill>
                  <a:schemeClr val="bg1"/>
                </a:solidFill>
                <a:latin typeface="Roboto" panose="02000000000000000000" pitchFamily="2" charset="0"/>
                <a:ea typeface="Roboto" panose="02000000000000000000" pitchFamily="2" charset="0"/>
                <a:cs typeface="Roboto Light"/>
                <a:sym typeface="Roboto Light"/>
              </a:rPr>
              <a:t>: </a:t>
            </a:r>
            <a:r>
              <a:rPr lang="en-IN" sz="2000" dirty="0">
                <a:solidFill>
                  <a:schemeClr val="bg1"/>
                </a:solidFill>
                <a:latin typeface="Roboto" panose="02000000000000000000" pitchFamily="2" charset="0"/>
                <a:ea typeface="Roboto" panose="02000000000000000000" pitchFamily="2" charset="0"/>
                <a:cs typeface="Roboto Light"/>
                <a:sym typeface="Roboto Light"/>
              </a:rPr>
              <a:t>mRNA’s sequence contains “zip code” or set of rules or common 			        sub sequences between each mRNAs that dictates it’s location and 			        neighbouring RNAs.</a:t>
            </a:r>
            <a:r>
              <a:rPr lang="en-IN" sz="2000" b="1" dirty="0">
                <a:solidFill>
                  <a:schemeClr val="bg1"/>
                </a:solidFill>
                <a:latin typeface="Roboto" panose="02000000000000000000" pitchFamily="2" charset="0"/>
                <a:ea typeface="Roboto" panose="02000000000000000000" pitchFamily="2" charset="0"/>
                <a:cs typeface="Roboto Light"/>
                <a:sym typeface="Roboto Light"/>
              </a:rPr>
              <a:t> </a:t>
            </a:r>
          </a:p>
          <a:p>
            <a:endParaRPr lang="en-IN" sz="2000" b="1" dirty="0">
              <a:solidFill>
                <a:schemeClr val="bg1"/>
              </a:solidFill>
              <a:latin typeface="Roboto" panose="02000000000000000000" pitchFamily="2" charset="0"/>
              <a:ea typeface="Roboto" panose="02000000000000000000" pitchFamily="2" charset="0"/>
              <a:cs typeface="Roboto Light"/>
              <a:sym typeface="Roboto Light"/>
            </a:endParaRPr>
          </a:p>
          <a:p>
            <a:r>
              <a:rPr lang="en-IN" sz="2200" i="1" dirty="0">
                <a:solidFill>
                  <a:schemeClr val="bg1"/>
                </a:solidFill>
                <a:latin typeface="Georgia" panose="02040502050405020303" pitchFamily="18" charset="0"/>
                <a:ea typeface="Roboto" panose="02000000000000000000" pitchFamily="2" charset="0"/>
                <a:cs typeface="Times New Roman" panose="02020603050405020304" pitchFamily="18" charset="0"/>
                <a:sym typeface="Roboto Light"/>
              </a:rPr>
              <a:t>Method</a:t>
            </a:r>
            <a:r>
              <a:rPr lang="en-IN" sz="2000" b="1" dirty="0">
                <a:solidFill>
                  <a:schemeClr val="bg1"/>
                </a:solidFill>
                <a:latin typeface="Roboto" panose="02000000000000000000" pitchFamily="2" charset="0"/>
                <a:ea typeface="Roboto" panose="02000000000000000000" pitchFamily="2" charset="0"/>
                <a:cs typeface="Roboto Light"/>
                <a:sym typeface="Roboto Light"/>
              </a:rPr>
              <a:t>: </a:t>
            </a:r>
            <a:r>
              <a:rPr lang="en-IN" sz="2000" dirty="0">
                <a:solidFill>
                  <a:schemeClr val="bg1"/>
                </a:solidFill>
                <a:latin typeface="Roboto" panose="02000000000000000000" pitchFamily="2" charset="0"/>
                <a:ea typeface="Roboto" panose="02000000000000000000" pitchFamily="2" charset="0"/>
                <a:cs typeface="Roboto Light"/>
                <a:sym typeface="Roboto Light"/>
              </a:rPr>
              <a:t>Deep learning model to predict mRNA’s local transcriptomic neighbourhood directly from it’s neighbour RNA sequence to discover </a:t>
            </a:r>
            <a:r>
              <a:rPr lang="en-IN" sz="2000" i="1" dirty="0">
                <a:solidFill>
                  <a:schemeClr val="bg1"/>
                </a:solidFill>
                <a:latin typeface="Times New Roman" panose="02020603050405020304" pitchFamily="18" charset="0"/>
                <a:ea typeface="Roboto" panose="02000000000000000000" pitchFamily="2" charset="0"/>
                <a:cs typeface="Times New Roman" panose="02020603050405020304" pitchFamily="18" charset="0"/>
                <a:sym typeface="Roboto Light"/>
              </a:rPr>
              <a:t>“Rule of Association”</a:t>
            </a:r>
          </a:p>
          <a:p>
            <a:endParaRPr lang="en-IN" sz="2000" b="1" dirty="0">
              <a:solidFill>
                <a:schemeClr val="bg1"/>
              </a:solidFill>
              <a:latin typeface="Roboto" panose="02000000000000000000" pitchFamily="2" charset="0"/>
              <a:ea typeface="Roboto" panose="02000000000000000000" pitchFamily="2" charset="0"/>
              <a:cs typeface="Roboto Light"/>
              <a:sym typeface="Roboto Light"/>
            </a:endParaRPr>
          </a:p>
        </p:txBody>
      </p:sp>
    </p:spTree>
    <p:extLst>
      <p:ext uri="{BB962C8B-B14F-4D97-AF65-F5344CB8AC3E}">
        <p14:creationId xmlns:p14="http://schemas.microsoft.com/office/powerpoint/2010/main" val="93757986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0">
          <a:extLst>
            <a:ext uri="{FF2B5EF4-FFF2-40B4-BE49-F238E27FC236}">
              <a16:creationId xmlns:a16="http://schemas.microsoft.com/office/drawing/2014/main" id="{4A3BFA2D-6687-92A7-D010-9452510444A4}"/>
            </a:ext>
          </a:extLst>
        </p:cNvPr>
        <p:cNvGrpSpPr/>
        <p:nvPr/>
      </p:nvGrpSpPr>
      <p:grpSpPr>
        <a:xfrm>
          <a:off x="0" y="0"/>
          <a:ext cx="0" cy="0"/>
          <a:chOff x="0" y="0"/>
          <a:chExt cx="0" cy="0"/>
        </a:xfrm>
      </p:grpSpPr>
      <p:sp>
        <p:nvSpPr>
          <p:cNvPr id="101" name="Google Shape;101;p2">
            <a:extLst>
              <a:ext uri="{FF2B5EF4-FFF2-40B4-BE49-F238E27FC236}">
                <a16:creationId xmlns:a16="http://schemas.microsoft.com/office/drawing/2014/main" id="{6C718871-0D9D-C9AB-7F71-A43BC0D0BB82}"/>
              </a:ext>
            </a:extLst>
          </p:cNvPr>
          <p:cNvSpPr/>
          <p:nvPr/>
        </p:nvSpPr>
        <p:spPr>
          <a:xfrm rot="2687220">
            <a:off x="-880866" y="-3237709"/>
            <a:ext cx="13947867" cy="9884465"/>
          </a:xfrm>
          <a:custGeom>
            <a:avLst/>
            <a:gdLst/>
            <a:ahLst/>
            <a:cxnLst/>
            <a:rect l="l" t="t" r="r" b="b"/>
            <a:pathLst>
              <a:path w="9777014" h="8127143" extrusionOk="0">
                <a:moveTo>
                  <a:pt x="0" y="0"/>
                </a:moveTo>
                <a:lnTo>
                  <a:pt x="9777013" y="0"/>
                </a:lnTo>
                <a:lnTo>
                  <a:pt x="9777013" y="8127142"/>
                </a:lnTo>
                <a:lnTo>
                  <a:pt x="0" y="8127142"/>
                </a:lnTo>
                <a:lnTo>
                  <a:pt x="0" y="0"/>
                </a:lnTo>
                <a:close/>
              </a:path>
            </a:pathLst>
          </a:custGeom>
          <a:blipFill rotWithShape="1">
            <a:blip r:embed="rId3">
              <a:alphaModFix amt="20000"/>
            </a:blip>
            <a:stretch>
              <a:fillRect/>
            </a:stretch>
          </a:blipFill>
          <a:ln>
            <a:noFill/>
          </a:ln>
          <a:effectLst>
            <a:outerShdw blurRad="50800" dist="50800" dir="5400000" algn="ctr" rotWithShape="0">
              <a:srgbClr val="000000"/>
            </a:outerShdw>
          </a:effectLst>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102" name="Google Shape;102;p2">
            <a:extLst>
              <a:ext uri="{FF2B5EF4-FFF2-40B4-BE49-F238E27FC236}">
                <a16:creationId xmlns:a16="http://schemas.microsoft.com/office/drawing/2014/main" id="{8B236FAE-0075-BF94-2241-A7A6385B609D}"/>
              </a:ext>
            </a:extLst>
          </p:cNvPr>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IN"/>
              <a:t>4</a:t>
            </a:fld>
            <a:endParaRPr/>
          </a:p>
        </p:txBody>
      </p:sp>
      <p:sp>
        <p:nvSpPr>
          <p:cNvPr id="4" name="TextBox 3">
            <a:extLst>
              <a:ext uri="{FF2B5EF4-FFF2-40B4-BE49-F238E27FC236}">
                <a16:creationId xmlns:a16="http://schemas.microsoft.com/office/drawing/2014/main" id="{28026940-2BC3-F922-6254-3D8274B6D35C}"/>
              </a:ext>
            </a:extLst>
          </p:cNvPr>
          <p:cNvSpPr txBox="1"/>
          <p:nvPr/>
        </p:nvSpPr>
        <p:spPr>
          <a:xfrm>
            <a:off x="843280" y="386210"/>
            <a:ext cx="10510520" cy="1600438"/>
          </a:xfrm>
          <a:prstGeom prst="rect">
            <a:avLst/>
          </a:prstGeom>
          <a:noFill/>
        </p:spPr>
        <p:txBody>
          <a:bodyPr wrap="square">
            <a:spAutoFit/>
          </a:bodyPr>
          <a:lstStyle/>
          <a:p>
            <a:r>
              <a:rPr lang="en-IN" sz="2500" b="1" dirty="0">
                <a:solidFill>
                  <a:schemeClr val="accent2">
                    <a:lumMod val="20000"/>
                    <a:lumOff val="80000"/>
                  </a:schemeClr>
                </a:solidFill>
                <a:latin typeface="Roboto" panose="02000000000000000000" pitchFamily="2" charset="0"/>
                <a:ea typeface="Roboto" panose="02000000000000000000" pitchFamily="2" charset="0"/>
                <a:cs typeface="Roboto Light"/>
                <a:sym typeface="Roboto Light"/>
              </a:rPr>
              <a:t>Raw Data </a:t>
            </a:r>
            <a:r>
              <a:rPr lang="en-IN" sz="2500" dirty="0">
                <a:solidFill>
                  <a:schemeClr val="bg1">
                    <a:lumMod val="65000"/>
                  </a:schemeClr>
                </a:solidFill>
                <a:latin typeface="Roboto" panose="02000000000000000000" pitchFamily="2" charset="0"/>
                <a:ea typeface="Roboto" panose="02000000000000000000" pitchFamily="2" charset="0"/>
                <a:cs typeface="Roboto Light"/>
                <a:sym typeface="Roboto Light"/>
              </a:rPr>
              <a:t>(used for our analysis)</a:t>
            </a:r>
            <a:endParaRPr lang="en-IN" sz="2500" b="1" dirty="0">
              <a:solidFill>
                <a:schemeClr val="bg1">
                  <a:lumMod val="65000"/>
                </a:schemeClr>
              </a:solidFill>
              <a:latin typeface="Roboto" panose="02000000000000000000" pitchFamily="2" charset="0"/>
              <a:ea typeface="Roboto" panose="02000000000000000000" pitchFamily="2" charset="0"/>
              <a:cs typeface="Roboto Light"/>
              <a:sym typeface="Roboto Light"/>
            </a:endParaRPr>
          </a:p>
          <a:p>
            <a:endParaRPr lang="en-IN" sz="2500" b="1" i="0" u="none" strike="noStrike" dirty="0">
              <a:solidFill>
                <a:schemeClr val="accent2">
                  <a:lumMod val="20000"/>
                  <a:lumOff val="80000"/>
                </a:schemeClr>
              </a:solidFill>
              <a:effectLst/>
              <a:latin typeface="Roboto" panose="02000000000000000000" pitchFamily="2" charset="0"/>
              <a:ea typeface="Roboto" panose="02000000000000000000" pitchFamily="2" charset="0"/>
              <a:sym typeface="Roboto Light"/>
            </a:endParaRPr>
          </a:p>
          <a:p>
            <a:r>
              <a:rPr lang="en-IN" sz="2500" b="1" dirty="0">
                <a:solidFill>
                  <a:schemeClr val="accent2">
                    <a:lumMod val="20000"/>
                    <a:lumOff val="80000"/>
                  </a:schemeClr>
                </a:solidFill>
                <a:latin typeface="Roboto" panose="02000000000000000000" pitchFamily="2" charset="0"/>
                <a:ea typeface="Roboto" panose="02000000000000000000" pitchFamily="2" charset="0"/>
                <a:sym typeface="Roboto Light"/>
              </a:rPr>
              <a:t>		</a:t>
            </a:r>
            <a:r>
              <a:rPr lang="en-US" sz="2800" b="1" i="0" u="none" strike="noStrike" dirty="0">
                <a:solidFill>
                  <a:srgbClr val="FFFFFF"/>
                </a:solidFill>
                <a:effectLst/>
                <a:latin typeface="Roboto" panose="02000000000000000000" pitchFamily="2" charset="0"/>
                <a:ea typeface="Roboto" panose="02000000000000000000" pitchFamily="2" charset="0"/>
              </a:rPr>
              <a:t>MERFISH Mouse Brain Receptor Map</a:t>
            </a:r>
          </a:p>
          <a:p>
            <a:pPr marL="457200" indent="-457200">
              <a:buClr>
                <a:schemeClr val="bg1"/>
              </a:buClr>
              <a:buFont typeface="+mj-lt"/>
              <a:buAutoNum type="arabicPeriod"/>
            </a:pPr>
            <a:endParaRPr lang="en-IN" sz="2000" dirty="0">
              <a:solidFill>
                <a:schemeClr val="bg1"/>
              </a:solidFill>
              <a:latin typeface="Roboto" panose="02000000000000000000" pitchFamily="2" charset="0"/>
              <a:ea typeface="Roboto" panose="02000000000000000000" pitchFamily="2" charset="0"/>
              <a:cs typeface="Roboto Light"/>
              <a:sym typeface="Roboto Light"/>
            </a:endParaRPr>
          </a:p>
        </p:txBody>
      </p:sp>
      <p:pic>
        <p:nvPicPr>
          <p:cNvPr id="3" name="Picture 2">
            <a:extLst>
              <a:ext uri="{FF2B5EF4-FFF2-40B4-BE49-F238E27FC236}">
                <a16:creationId xmlns:a16="http://schemas.microsoft.com/office/drawing/2014/main" id="{DB039ED0-C188-F8EE-2E62-304E5EE04FEE}"/>
              </a:ext>
            </a:extLst>
          </p:cNvPr>
          <p:cNvPicPr>
            <a:picLocks noChangeAspect="1"/>
          </p:cNvPicPr>
          <p:nvPr/>
        </p:nvPicPr>
        <p:blipFill>
          <a:blip r:embed="rId4"/>
          <a:stretch>
            <a:fillRect/>
          </a:stretch>
        </p:blipFill>
        <p:spPr>
          <a:xfrm>
            <a:off x="1787767" y="1868750"/>
            <a:ext cx="8610600" cy="4369701"/>
          </a:xfrm>
          <a:prstGeom prst="rect">
            <a:avLst/>
          </a:prstGeom>
        </p:spPr>
      </p:pic>
    </p:spTree>
    <p:extLst>
      <p:ext uri="{BB962C8B-B14F-4D97-AF65-F5344CB8AC3E}">
        <p14:creationId xmlns:p14="http://schemas.microsoft.com/office/powerpoint/2010/main" val="395835854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00">
          <a:extLst>
            <a:ext uri="{FF2B5EF4-FFF2-40B4-BE49-F238E27FC236}">
              <a16:creationId xmlns:a16="http://schemas.microsoft.com/office/drawing/2014/main" id="{BCB14395-ECCB-1228-777A-F1EA362A7EA4}"/>
            </a:ext>
          </a:extLst>
        </p:cNvPr>
        <p:cNvGrpSpPr/>
        <p:nvPr/>
      </p:nvGrpSpPr>
      <p:grpSpPr>
        <a:xfrm>
          <a:off x="0" y="0"/>
          <a:ext cx="0" cy="0"/>
          <a:chOff x="0" y="0"/>
          <a:chExt cx="0" cy="0"/>
        </a:xfrm>
      </p:grpSpPr>
      <p:sp>
        <p:nvSpPr>
          <p:cNvPr id="101" name="Google Shape;101;p2">
            <a:extLst>
              <a:ext uri="{FF2B5EF4-FFF2-40B4-BE49-F238E27FC236}">
                <a16:creationId xmlns:a16="http://schemas.microsoft.com/office/drawing/2014/main" id="{DC42EF9F-8CDC-EB1E-E64E-B8B2B2B93653}"/>
              </a:ext>
            </a:extLst>
          </p:cNvPr>
          <p:cNvSpPr/>
          <p:nvPr/>
        </p:nvSpPr>
        <p:spPr>
          <a:xfrm rot="2687220">
            <a:off x="-880866" y="-3237709"/>
            <a:ext cx="13947867" cy="9884465"/>
          </a:xfrm>
          <a:custGeom>
            <a:avLst/>
            <a:gdLst/>
            <a:ahLst/>
            <a:cxnLst/>
            <a:rect l="l" t="t" r="r" b="b"/>
            <a:pathLst>
              <a:path w="9777014" h="8127143" extrusionOk="0">
                <a:moveTo>
                  <a:pt x="0" y="0"/>
                </a:moveTo>
                <a:lnTo>
                  <a:pt x="9777013" y="0"/>
                </a:lnTo>
                <a:lnTo>
                  <a:pt x="9777013" y="8127142"/>
                </a:lnTo>
                <a:lnTo>
                  <a:pt x="0" y="8127142"/>
                </a:lnTo>
                <a:lnTo>
                  <a:pt x="0" y="0"/>
                </a:lnTo>
                <a:close/>
              </a:path>
            </a:pathLst>
          </a:custGeom>
          <a:blipFill rotWithShape="1">
            <a:blip r:embed="rId3">
              <a:alphaModFix amt="20000"/>
            </a:blip>
            <a:stretch>
              <a:fillRect/>
            </a:stretch>
          </a:blipFill>
          <a:ln>
            <a:noFill/>
          </a:ln>
          <a:effectLst>
            <a:outerShdw blurRad="50800" dist="50800" dir="5400000" algn="ctr" rotWithShape="0">
              <a:srgbClr val="000000"/>
            </a:outerShdw>
          </a:effectLst>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102" name="Google Shape;102;p2">
            <a:extLst>
              <a:ext uri="{FF2B5EF4-FFF2-40B4-BE49-F238E27FC236}">
                <a16:creationId xmlns:a16="http://schemas.microsoft.com/office/drawing/2014/main" id="{F5845A5E-18AF-B5A4-8A0C-92F4D785962C}"/>
              </a:ext>
            </a:extLst>
          </p:cNvPr>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IN"/>
              <a:t>5</a:t>
            </a:fld>
            <a:endParaRPr/>
          </a:p>
        </p:txBody>
      </p:sp>
      <p:sp>
        <p:nvSpPr>
          <p:cNvPr id="4" name="TextBox 3">
            <a:extLst>
              <a:ext uri="{FF2B5EF4-FFF2-40B4-BE49-F238E27FC236}">
                <a16:creationId xmlns:a16="http://schemas.microsoft.com/office/drawing/2014/main" id="{AB50FE96-AE3B-4E14-892D-9AFEDF400C4E}"/>
              </a:ext>
            </a:extLst>
          </p:cNvPr>
          <p:cNvSpPr txBox="1"/>
          <p:nvPr/>
        </p:nvSpPr>
        <p:spPr>
          <a:xfrm>
            <a:off x="843280" y="386210"/>
            <a:ext cx="10510520" cy="1600438"/>
          </a:xfrm>
          <a:prstGeom prst="rect">
            <a:avLst/>
          </a:prstGeom>
          <a:noFill/>
        </p:spPr>
        <p:txBody>
          <a:bodyPr wrap="square">
            <a:spAutoFit/>
          </a:bodyPr>
          <a:lstStyle/>
          <a:p>
            <a:r>
              <a:rPr lang="en-IN" sz="2500" b="1" dirty="0">
                <a:solidFill>
                  <a:schemeClr val="accent2">
                    <a:lumMod val="20000"/>
                    <a:lumOff val="80000"/>
                  </a:schemeClr>
                </a:solidFill>
                <a:latin typeface="Roboto" panose="02000000000000000000" pitchFamily="2" charset="0"/>
                <a:ea typeface="Roboto" panose="02000000000000000000" pitchFamily="2" charset="0"/>
                <a:cs typeface="Roboto Light"/>
                <a:sym typeface="Roboto Light"/>
              </a:rPr>
              <a:t>Raw Data </a:t>
            </a:r>
            <a:r>
              <a:rPr lang="en-IN" sz="2500" dirty="0">
                <a:solidFill>
                  <a:schemeClr val="bg1">
                    <a:lumMod val="65000"/>
                  </a:schemeClr>
                </a:solidFill>
                <a:latin typeface="Roboto" panose="02000000000000000000" pitchFamily="2" charset="0"/>
                <a:ea typeface="Roboto" panose="02000000000000000000" pitchFamily="2" charset="0"/>
                <a:cs typeface="Roboto Light"/>
                <a:sym typeface="Roboto Light"/>
              </a:rPr>
              <a:t>(used for our analysis)</a:t>
            </a:r>
            <a:endParaRPr lang="en-IN" sz="2500" b="1" dirty="0">
              <a:solidFill>
                <a:schemeClr val="bg1">
                  <a:lumMod val="65000"/>
                </a:schemeClr>
              </a:solidFill>
              <a:latin typeface="Roboto" panose="02000000000000000000" pitchFamily="2" charset="0"/>
              <a:ea typeface="Roboto" panose="02000000000000000000" pitchFamily="2" charset="0"/>
              <a:cs typeface="Roboto Light"/>
              <a:sym typeface="Roboto Light"/>
            </a:endParaRPr>
          </a:p>
          <a:p>
            <a:endParaRPr lang="en-IN" sz="2500" b="1" i="0" u="none" strike="noStrike" dirty="0">
              <a:solidFill>
                <a:schemeClr val="accent2">
                  <a:lumMod val="20000"/>
                  <a:lumOff val="80000"/>
                </a:schemeClr>
              </a:solidFill>
              <a:effectLst/>
              <a:latin typeface="Roboto" panose="02000000000000000000" pitchFamily="2" charset="0"/>
              <a:ea typeface="Roboto" panose="02000000000000000000" pitchFamily="2" charset="0"/>
              <a:sym typeface="Roboto Light"/>
            </a:endParaRPr>
          </a:p>
          <a:p>
            <a:r>
              <a:rPr lang="en-IN" sz="2500" b="1" dirty="0">
                <a:solidFill>
                  <a:schemeClr val="accent2">
                    <a:lumMod val="20000"/>
                    <a:lumOff val="80000"/>
                  </a:schemeClr>
                </a:solidFill>
                <a:latin typeface="Roboto" panose="02000000000000000000" pitchFamily="2" charset="0"/>
                <a:ea typeface="Roboto" panose="02000000000000000000" pitchFamily="2" charset="0"/>
                <a:sym typeface="Roboto Light"/>
              </a:rPr>
              <a:t>		Single Cell Spatial map of Mouse Brain</a:t>
            </a:r>
            <a:endParaRPr lang="en-US" sz="2800" b="1" i="0" u="none" strike="noStrike" dirty="0">
              <a:solidFill>
                <a:srgbClr val="FFFFFF"/>
              </a:solidFill>
              <a:effectLst/>
              <a:latin typeface="Roboto" panose="02000000000000000000" pitchFamily="2" charset="0"/>
              <a:ea typeface="Roboto" panose="02000000000000000000" pitchFamily="2" charset="0"/>
            </a:endParaRPr>
          </a:p>
          <a:p>
            <a:pPr marL="457200" indent="-457200">
              <a:buClr>
                <a:schemeClr val="bg1"/>
              </a:buClr>
              <a:buFont typeface="+mj-lt"/>
              <a:buAutoNum type="arabicPeriod"/>
            </a:pPr>
            <a:endParaRPr lang="en-IN" sz="2000" dirty="0">
              <a:solidFill>
                <a:schemeClr val="bg1"/>
              </a:solidFill>
              <a:latin typeface="Roboto" panose="02000000000000000000" pitchFamily="2" charset="0"/>
              <a:ea typeface="Roboto" panose="02000000000000000000" pitchFamily="2" charset="0"/>
              <a:cs typeface="Roboto Light"/>
              <a:sym typeface="Roboto Light"/>
            </a:endParaRPr>
          </a:p>
        </p:txBody>
      </p:sp>
      <p:pic>
        <p:nvPicPr>
          <p:cNvPr id="5" name="Picture 4">
            <a:extLst>
              <a:ext uri="{FF2B5EF4-FFF2-40B4-BE49-F238E27FC236}">
                <a16:creationId xmlns:a16="http://schemas.microsoft.com/office/drawing/2014/main" id="{916720F1-12F4-7872-2555-E3748CCF36DE}"/>
              </a:ext>
            </a:extLst>
          </p:cNvPr>
          <p:cNvPicPr>
            <a:picLocks noChangeAspect="1"/>
          </p:cNvPicPr>
          <p:nvPr/>
        </p:nvPicPr>
        <p:blipFill>
          <a:blip r:embed="rId4"/>
          <a:stretch>
            <a:fillRect/>
          </a:stretch>
        </p:blipFill>
        <p:spPr>
          <a:xfrm>
            <a:off x="2728312" y="1704523"/>
            <a:ext cx="6729510" cy="4808887"/>
          </a:xfrm>
          <a:prstGeom prst="rect">
            <a:avLst/>
          </a:prstGeom>
        </p:spPr>
      </p:pic>
    </p:spTree>
    <p:extLst>
      <p:ext uri="{BB962C8B-B14F-4D97-AF65-F5344CB8AC3E}">
        <p14:creationId xmlns:p14="http://schemas.microsoft.com/office/powerpoint/2010/main" val="49708287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00">
          <a:extLst>
            <a:ext uri="{FF2B5EF4-FFF2-40B4-BE49-F238E27FC236}">
              <a16:creationId xmlns:a16="http://schemas.microsoft.com/office/drawing/2014/main" id="{3E445078-DE83-DCBF-7C87-5040D82C7DFD}"/>
            </a:ext>
          </a:extLst>
        </p:cNvPr>
        <p:cNvGrpSpPr/>
        <p:nvPr/>
      </p:nvGrpSpPr>
      <p:grpSpPr>
        <a:xfrm>
          <a:off x="0" y="0"/>
          <a:ext cx="0" cy="0"/>
          <a:chOff x="0" y="0"/>
          <a:chExt cx="0" cy="0"/>
        </a:xfrm>
      </p:grpSpPr>
      <p:sp>
        <p:nvSpPr>
          <p:cNvPr id="101" name="Google Shape;101;p2">
            <a:extLst>
              <a:ext uri="{FF2B5EF4-FFF2-40B4-BE49-F238E27FC236}">
                <a16:creationId xmlns:a16="http://schemas.microsoft.com/office/drawing/2014/main" id="{E2A79267-4CC9-6F60-882B-897C14B11915}"/>
              </a:ext>
            </a:extLst>
          </p:cNvPr>
          <p:cNvSpPr/>
          <p:nvPr/>
        </p:nvSpPr>
        <p:spPr>
          <a:xfrm rot="2687220">
            <a:off x="-880866" y="-3237709"/>
            <a:ext cx="13947867" cy="9884465"/>
          </a:xfrm>
          <a:custGeom>
            <a:avLst/>
            <a:gdLst/>
            <a:ahLst/>
            <a:cxnLst/>
            <a:rect l="l" t="t" r="r" b="b"/>
            <a:pathLst>
              <a:path w="9777014" h="8127143" extrusionOk="0">
                <a:moveTo>
                  <a:pt x="0" y="0"/>
                </a:moveTo>
                <a:lnTo>
                  <a:pt x="9777013" y="0"/>
                </a:lnTo>
                <a:lnTo>
                  <a:pt x="9777013" y="8127142"/>
                </a:lnTo>
                <a:lnTo>
                  <a:pt x="0" y="8127142"/>
                </a:lnTo>
                <a:lnTo>
                  <a:pt x="0" y="0"/>
                </a:lnTo>
                <a:close/>
              </a:path>
            </a:pathLst>
          </a:custGeom>
          <a:blipFill rotWithShape="1">
            <a:blip r:embed="rId3">
              <a:alphaModFix amt="20000"/>
            </a:blip>
            <a:stretch>
              <a:fillRect/>
            </a:stretch>
          </a:blipFill>
          <a:ln>
            <a:noFill/>
          </a:ln>
          <a:effectLst>
            <a:outerShdw blurRad="50800" dist="50800" dir="5400000" algn="ctr" rotWithShape="0">
              <a:srgbClr val="000000"/>
            </a:outerShdw>
          </a:effectLst>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102" name="Google Shape;102;p2">
            <a:extLst>
              <a:ext uri="{FF2B5EF4-FFF2-40B4-BE49-F238E27FC236}">
                <a16:creationId xmlns:a16="http://schemas.microsoft.com/office/drawing/2014/main" id="{A91C148C-910C-AEF6-A52D-87BE97C2F399}"/>
              </a:ext>
            </a:extLst>
          </p:cNvPr>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IN"/>
              <a:t>6</a:t>
            </a:fld>
            <a:endParaRPr/>
          </a:p>
        </p:txBody>
      </p:sp>
      <p:sp>
        <p:nvSpPr>
          <p:cNvPr id="4" name="TextBox 3">
            <a:extLst>
              <a:ext uri="{FF2B5EF4-FFF2-40B4-BE49-F238E27FC236}">
                <a16:creationId xmlns:a16="http://schemas.microsoft.com/office/drawing/2014/main" id="{BD6F6AB4-6800-B022-9C14-95CDDCF779C9}"/>
              </a:ext>
            </a:extLst>
          </p:cNvPr>
          <p:cNvSpPr txBox="1"/>
          <p:nvPr/>
        </p:nvSpPr>
        <p:spPr>
          <a:xfrm>
            <a:off x="843280" y="386210"/>
            <a:ext cx="10510520" cy="1600438"/>
          </a:xfrm>
          <a:prstGeom prst="rect">
            <a:avLst/>
          </a:prstGeom>
          <a:noFill/>
        </p:spPr>
        <p:txBody>
          <a:bodyPr wrap="square">
            <a:spAutoFit/>
          </a:bodyPr>
          <a:lstStyle/>
          <a:p>
            <a:r>
              <a:rPr lang="en-IN" sz="2500" b="1" dirty="0">
                <a:solidFill>
                  <a:schemeClr val="accent2">
                    <a:lumMod val="20000"/>
                    <a:lumOff val="80000"/>
                  </a:schemeClr>
                </a:solidFill>
                <a:latin typeface="Roboto" panose="02000000000000000000" pitchFamily="2" charset="0"/>
                <a:ea typeface="Roboto" panose="02000000000000000000" pitchFamily="2" charset="0"/>
                <a:cs typeface="Roboto Light"/>
                <a:sym typeface="Roboto Light"/>
              </a:rPr>
              <a:t>Raw Data </a:t>
            </a:r>
            <a:r>
              <a:rPr lang="en-IN" sz="2500" dirty="0">
                <a:solidFill>
                  <a:schemeClr val="bg1">
                    <a:lumMod val="65000"/>
                  </a:schemeClr>
                </a:solidFill>
                <a:latin typeface="Roboto" panose="02000000000000000000" pitchFamily="2" charset="0"/>
                <a:ea typeface="Roboto" panose="02000000000000000000" pitchFamily="2" charset="0"/>
                <a:cs typeface="Roboto Light"/>
                <a:sym typeface="Roboto Light"/>
              </a:rPr>
              <a:t>(used for our analysis)</a:t>
            </a:r>
            <a:endParaRPr lang="en-IN" sz="2500" b="1" dirty="0">
              <a:solidFill>
                <a:schemeClr val="bg1">
                  <a:lumMod val="65000"/>
                </a:schemeClr>
              </a:solidFill>
              <a:latin typeface="Roboto" panose="02000000000000000000" pitchFamily="2" charset="0"/>
              <a:ea typeface="Roboto" panose="02000000000000000000" pitchFamily="2" charset="0"/>
              <a:cs typeface="Roboto Light"/>
              <a:sym typeface="Roboto Light"/>
            </a:endParaRPr>
          </a:p>
          <a:p>
            <a:endParaRPr lang="en-IN" sz="2500" b="1" i="0" u="none" strike="noStrike" dirty="0">
              <a:solidFill>
                <a:schemeClr val="accent2">
                  <a:lumMod val="20000"/>
                  <a:lumOff val="80000"/>
                </a:schemeClr>
              </a:solidFill>
              <a:effectLst/>
              <a:latin typeface="Roboto" panose="02000000000000000000" pitchFamily="2" charset="0"/>
              <a:ea typeface="Roboto" panose="02000000000000000000" pitchFamily="2" charset="0"/>
              <a:sym typeface="Roboto Light"/>
            </a:endParaRPr>
          </a:p>
          <a:p>
            <a:r>
              <a:rPr lang="en-IN" sz="2500" b="1" dirty="0">
                <a:solidFill>
                  <a:schemeClr val="accent2">
                    <a:lumMod val="20000"/>
                    <a:lumOff val="80000"/>
                  </a:schemeClr>
                </a:solidFill>
                <a:latin typeface="Roboto" panose="02000000000000000000" pitchFamily="2" charset="0"/>
                <a:ea typeface="Roboto" panose="02000000000000000000" pitchFamily="2" charset="0"/>
                <a:sym typeface="Roboto Light"/>
              </a:rPr>
              <a:t>		MERFISH mRNA data of Mouse Brain</a:t>
            </a:r>
            <a:endParaRPr lang="en-US" sz="2800" b="1" i="0" u="none" strike="noStrike" dirty="0">
              <a:solidFill>
                <a:srgbClr val="FFFFFF"/>
              </a:solidFill>
              <a:effectLst/>
              <a:latin typeface="Roboto" panose="02000000000000000000" pitchFamily="2" charset="0"/>
              <a:ea typeface="Roboto" panose="02000000000000000000" pitchFamily="2" charset="0"/>
            </a:endParaRPr>
          </a:p>
          <a:p>
            <a:pPr marL="457200" indent="-457200">
              <a:buClr>
                <a:schemeClr val="bg1"/>
              </a:buClr>
              <a:buFont typeface="+mj-lt"/>
              <a:buAutoNum type="arabicPeriod"/>
            </a:pPr>
            <a:endParaRPr lang="en-IN" sz="2000" dirty="0">
              <a:solidFill>
                <a:schemeClr val="bg1"/>
              </a:solidFill>
              <a:latin typeface="Roboto" panose="02000000000000000000" pitchFamily="2" charset="0"/>
              <a:ea typeface="Roboto" panose="02000000000000000000" pitchFamily="2" charset="0"/>
              <a:cs typeface="Roboto Light"/>
              <a:sym typeface="Roboto Light"/>
            </a:endParaRPr>
          </a:p>
        </p:txBody>
      </p:sp>
      <p:pic>
        <p:nvPicPr>
          <p:cNvPr id="3" name="Picture 2">
            <a:extLst>
              <a:ext uri="{FF2B5EF4-FFF2-40B4-BE49-F238E27FC236}">
                <a16:creationId xmlns:a16="http://schemas.microsoft.com/office/drawing/2014/main" id="{422B3E03-4FCA-4705-D966-1329D76F6108}"/>
              </a:ext>
            </a:extLst>
          </p:cNvPr>
          <p:cNvPicPr>
            <a:picLocks noChangeAspect="1"/>
          </p:cNvPicPr>
          <p:nvPr/>
        </p:nvPicPr>
        <p:blipFill>
          <a:blip r:embed="rId4"/>
          <a:stretch>
            <a:fillRect/>
          </a:stretch>
        </p:blipFill>
        <p:spPr>
          <a:xfrm>
            <a:off x="1264475" y="1704523"/>
            <a:ext cx="9657184" cy="4580731"/>
          </a:xfrm>
          <a:prstGeom prst="rect">
            <a:avLst/>
          </a:prstGeom>
        </p:spPr>
      </p:pic>
    </p:spTree>
    <p:extLst>
      <p:ext uri="{BB962C8B-B14F-4D97-AF65-F5344CB8AC3E}">
        <p14:creationId xmlns:p14="http://schemas.microsoft.com/office/powerpoint/2010/main" val="391886408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00">
          <a:extLst>
            <a:ext uri="{FF2B5EF4-FFF2-40B4-BE49-F238E27FC236}">
              <a16:creationId xmlns:a16="http://schemas.microsoft.com/office/drawing/2014/main" id="{094B4D40-80C6-3E9A-115E-84EF527C3624}"/>
            </a:ext>
          </a:extLst>
        </p:cNvPr>
        <p:cNvGrpSpPr/>
        <p:nvPr/>
      </p:nvGrpSpPr>
      <p:grpSpPr>
        <a:xfrm>
          <a:off x="0" y="0"/>
          <a:ext cx="0" cy="0"/>
          <a:chOff x="0" y="0"/>
          <a:chExt cx="0" cy="0"/>
        </a:xfrm>
      </p:grpSpPr>
      <p:sp>
        <p:nvSpPr>
          <p:cNvPr id="101" name="Google Shape;101;p2">
            <a:extLst>
              <a:ext uri="{FF2B5EF4-FFF2-40B4-BE49-F238E27FC236}">
                <a16:creationId xmlns:a16="http://schemas.microsoft.com/office/drawing/2014/main" id="{C7E2928D-BCFF-C9F2-B702-D47D836126A2}"/>
              </a:ext>
            </a:extLst>
          </p:cNvPr>
          <p:cNvSpPr/>
          <p:nvPr/>
        </p:nvSpPr>
        <p:spPr>
          <a:xfrm rot="2687220">
            <a:off x="-880866" y="-3237709"/>
            <a:ext cx="13947867" cy="9884465"/>
          </a:xfrm>
          <a:custGeom>
            <a:avLst/>
            <a:gdLst/>
            <a:ahLst/>
            <a:cxnLst/>
            <a:rect l="l" t="t" r="r" b="b"/>
            <a:pathLst>
              <a:path w="9777014" h="8127143" extrusionOk="0">
                <a:moveTo>
                  <a:pt x="0" y="0"/>
                </a:moveTo>
                <a:lnTo>
                  <a:pt x="9777013" y="0"/>
                </a:lnTo>
                <a:lnTo>
                  <a:pt x="9777013" y="8127142"/>
                </a:lnTo>
                <a:lnTo>
                  <a:pt x="0" y="8127142"/>
                </a:lnTo>
                <a:lnTo>
                  <a:pt x="0" y="0"/>
                </a:lnTo>
                <a:close/>
              </a:path>
            </a:pathLst>
          </a:custGeom>
          <a:blipFill rotWithShape="1">
            <a:blip r:embed="rId3">
              <a:alphaModFix amt="20000"/>
            </a:blip>
            <a:stretch>
              <a:fillRect/>
            </a:stretch>
          </a:blipFill>
          <a:ln>
            <a:noFill/>
          </a:ln>
          <a:effectLst>
            <a:outerShdw blurRad="50800" dist="50800" dir="5400000" algn="ctr" rotWithShape="0">
              <a:srgbClr val="000000"/>
            </a:outerShdw>
          </a:effectLst>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102" name="Google Shape;102;p2">
            <a:extLst>
              <a:ext uri="{FF2B5EF4-FFF2-40B4-BE49-F238E27FC236}">
                <a16:creationId xmlns:a16="http://schemas.microsoft.com/office/drawing/2014/main" id="{C2B2E9E4-888A-C932-433E-543A632B25BA}"/>
              </a:ext>
            </a:extLst>
          </p:cNvPr>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IN"/>
              <a:t>7</a:t>
            </a:fld>
            <a:endParaRPr/>
          </a:p>
        </p:txBody>
      </p:sp>
      <p:sp>
        <p:nvSpPr>
          <p:cNvPr id="4" name="TextBox 3">
            <a:extLst>
              <a:ext uri="{FF2B5EF4-FFF2-40B4-BE49-F238E27FC236}">
                <a16:creationId xmlns:a16="http://schemas.microsoft.com/office/drawing/2014/main" id="{2A579BA9-BB5B-E133-8B5E-3F358104146D}"/>
              </a:ext>
            </a:extLst>
          </p:cNvPr>
          <p:cNvSpPr txBox="1"/>
          <p:nvPr/>
        </p:nvSpPr>
        <p:spPr>
          <a:xfrm>
            <a:off x="843280" y="386210"/>
            <a:ext cx="10510520" cy="1600438"/>
          </a:xfrm>
          <a:prstGeom prst="rect">
            <a:avLst/>
          </a:prstGeom>
          <a:noFill/>
        </p:spPr>
        <p:txBody>
          <a:bodyPr wrap="square">
            <a:spAutoFit/>
          </a:bodyPr>
          <a:lstStyle/>
          <a:p>
            <a:r>
              <a:rPr lang="en-IN" sz="2500" b="1" dirty="0">
                <a:solidFill>
                  <a:schemeClr val="accent2">
                    <a:lumMod val="20000"/>
                    <a:lumOff val="80000"/>
                  </a:schemeClr>
                </a:solidFill>
                <a:latin typeface="Roboto" panose="02000000000000000000" pitchFamily="2" charset="0"/>
                <a:ea typeface="Roboto" panose="02000000000000000000" pitchFamily="2" charset="0"/>
                <a:cs typeface="Roboto Light"/>
                <a:sym typeface="Roboto Light"/>
              </a:rPr>
              <a:t>Raw Data </a:t>
            </a:r>
            <a:r>
              <a:rPr lang="en-IN" sz="2500" dirty="0">
                <a:solidFill>
                  <a:schemeClr val="bg1">
                    <a:lumMod val="65000"/>
                  </a:schemeClr>
                </a:solidFill>
                <a:latin typeface="Roboto" panose="02000000000000000000" pitchFamily="2" charset="0"/>
                <a:ea typeface="Roboto" panose="02000000000000000000" pitchFamily="2" charset="0"/>
                <a:cs typeface="Roboto Light"/>
                <a:sym typeface="Roboto Light"/>
              </a:rPr>
              <a:t>(used for our analysis)</a:t>
            </a:r>
            <a:endParaRPr lang="en-IN" sz="2500" b="1" dirty="0">
              <a:solidFill>
                <a:schemeClr val="bg1">
                  <a:lumMod val="65000"/>
                </a:schemeClr>
              </a:solidFill>
              <a:latin typeface="Roboto" panose="02000000000000000000" pitchFamily="2" charset="0"/>
              <a:ea typeface="Roboto" panose="02000000000000000000" pitchFamily="2" charset="0"/>
              <a:cs typeface="Roboto Light"/>
              <a:sym typeface="Roboto Light"/>
            </a:endParaRPr>
          </a:p>
          <a:p>
            <a:endParaRPr lang="en-IN" sz="2500" b="1" i="0" u="none" strike="noStrike" dirty="0">
              <a:solidFill>
                <a:schemeClr val="accent2">
                  <a:lumMod val="20000"/>
                  <a:lumOff val="80000"/>
                </a:schemeClr>
              </a:solidFill>
              <a:effectLst/>
              <a:latin typeface="Roboto" panose="02000000000000000000" pitchFamily="2" charset="0"/>
              <a:ea typeface="Roboto" panose="02000000000000000000" pitchFamily="2" charset="0"/>
              <a:sym typeface="Roboto Light"/>
            </a:endParaRPr>
          </a:p>
          <a:p>
            <a:r>
              <a:rPr lang="en-IN" sz="2500" b="1" dirty="0">
                <a:solidFill>
                  <a:schemeClr val="accent2">
                    <a:lumMod val="20000"/>
                    <a:lumOff val="80000"/>
                  </a:schemeClr>
                </a:solidFill>
                <a:latin typeface="Roboto" panose="02000000000000000000" pitchFamily="2" charset="0"/>
                <a:ea typeface="Roboto" panose="02000000000000000000" pitchFamily="2" charset="0"/>
                <a:sym typeface="Roboto Light"/>
              </a:rPr>
              <a:t>		MERFISH mRNA data of Mouse Brain</a:t>
            </a:r>
            <a:endParaRPr lang="en-US" sz="2800" b="1" i="0" u="none" strike="noStrike" dirty="0">
              <a:solidFill>
                <a:srgbClr val="FFFFFF"/>
              </a:solidFill>
              <a:effectLst/>
              <a:latin typeface="Roboto" panose="02000000000000000000" pitchFamily="2" charset="0"/>
              <a:ea typeface="Roboto" panose="02000000000000000000" pitchFamily="2" charset="0"/>
            </a:endParaRPr>
          </a:p>
          <a:p>
            <a:pPr marL="457200" indent="-457200">
              <a:buClr>
                <a:schemeClr val="bg1"/>
              </a:buClr>
              <a:buFont typeface="+mj-lt"/>
              <a:buAutoNum type="arabicPeriod"/>
            </a:pPr>
            <a:endParaRPr lang="en-IN" sz="2000" dirty="0">
              <a:solidFill>
                <a:schemeClr val="bg1"/>
              </a:solidFill>
              <a:latin typeface="Roboto" panose="02000000000000000000" pitchFamily="2" charset="0"/>
              <a:ea typeface="Roboto" panose="02000000000000000000" pitchFamily="2" charset="0"/>
              <a:cs typeface="Roboto Light"/>
              <a:sym typeface="Roboto Light"/>
            </a:endParaRPr>
          </a:p>
        </p:txBody>
      </p:sp>
      <p:pic>
        <p:nvPicPr>
          <p:cNvPr id="6" name="Picture 5">
            <a:extLst>
              <a:ext uri="{FF2B5EF4-FFF2-40B4-BE49-F238E27FC236}">
                <a16:creationId xmlns:a16="http://schemas.microsoft.com/office/drawing/2014/main" id="{2628C752-C6E8-58AE-255C-7611893E6CDF}"/>
              </a:ext>
            </a:extLst>
          </p:cNvPr>
          <p:cNvPicPr>
            <a:picLocks noChangeAspect="1"/>
          </p:cNvPicPr>
          <p:nvPr/>
        </p:nvPicPr>
        <p:blipFill>
          <a:blip r:embed="rId4"/>
          <a:stretch>
            <a:fillRect/>
          </a:stretch>
        </p:blipFill>
        <p:spPr>
          <a:xfrm>
            <a:off x="1802054" y="1999799"/>
            <a:ext cx="8582025" cy="2171700"/>
          </a:xfrm>
          <a:prstGeom prst="rect">
            <a:avLst/>
          </a:prstGeom>
        </p:spPr>
      </p:pic>
    </p:spTree>
    <p:extLst>
      <p:ext uri="{BB962C8B-B14F-4D97-AF65-F5344CB8AC3E}">
        <p14:creationId xmlns:p14="http://schemas.microsoft.com/office/powerpoint/2010/main" val="147942161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00">
          <a:extLst>
            <a:ext uri="{FF2B5EF4-FFF2-40B4-BE49-F238E27FC236}">
              <a16:creationId xmlns:a16="http://schemas.microsoft.com/office/drawing/2014/main" id="{037C2679-7851-BFD0-F317-6D5613A058BF}"/>
            </a:ext>
          </a:extLst>
        </p:cNvPr>
        <p:cNvGrpSpPr/>
        <p:nvPr/>
      </p:nvGrpSpPr>
      <p:grpSpPr>
        <a:xfrm>
          <a:off x="0" y="0"/>
          <a:ext cx="0" cy="0"/>
          <a:chOff x="0" y="0"/>
          <a:chExt cx="0" cy="0"/>
        </a:xfrm>
      </p:grpSpPr>
      <p:sp>
        <p:nvSpPr>
          <p:cNvPr id="101" name="Google Shape;101;p2">
            <a:extLst>
              <a:ext uri="{FF2B5EF4-FFF2-40B4-BE49-F238E27FC236}">
                <a16:creationId xmlns:a16="http://schemas.microsoft.com/office/drawing/2014/main" id="{607D1F70-D0E2-FEB8-7CEC-1CDDE932D010}"/>
              </a:ext>
            </a:extLst>
          </p:cNvPr>
          <p:cNvSpPr/>
          <p:nvPr/>
        </p:nvSpPr>
        <p:spPr>
          <a:xfrm rot="2687220">
            <a:off x="-880866" y="-3237709"/>
            <a:ext cx="13947867" cy="9884465"/>
          </a:xfrm>
          <a:custGeom>
            <a:avLst/>
            <a:gdLst/>
            <a:ahLst/>
            <a:cxnLst/>
            <a:rect l="l" t="t" r="r" b="b"/>
            <a:pathLst>
              <a:path w="9777014" h="8127143" extrusionOk="0">
                <a:moveTo>
                  <a:pt x="0" y="0"/>
                </a:moveTo>
                <a:lnTo>
                  <a:pt x="9777013" y="0"/>
                </a:lnTo>
                <a:lnTo>
                  <a:pt x="9777013" y="8127142"/>
                </a:lnTo>
                <a:lnTo>
                  <a:pt x="0" y="8127142"/>
                </a:lnTo>
                <a:lnTo>
                  <a:pt x="0" y="0"/>
                </a:lnTo>
                <a:close/>
              </a:path>
            </a:pathLst>
          </a:custGeom>
          <a:blipFill rotWithShape="1">
            <a:blip r:embed="rId3">
              <a:alphaModFix amt="20000"/>
            </a:blip>
            <a:stretch>
              <a:fillRect/>
            </a:stretch>
          </a:blipFill>
          <a:ln>
            <a:noFill/>
          </a:ln>
          <a:effectLst>
            <a:outerShdw blurRad="50800" dist="50800" dir="5400000" algn="ctr" rotWithShape="0">
              <a:srgbClr val="000000"/>
            </a:outerShdw>
          </a:effectLst>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102" name="Google Shape;102;p2">
            <a:extLst>
              <a:ext uri="{FF2B5EF4-FFF2-40B4-BE49-F238E27FC236}">
                <a16:creationId xmlns:a16="http://schemas.microsoft.com/office/drawing/2014/main" id="{FF26243D-F0B9-E4A0-6138-5946DDCD9112}"/>
              </a:ext>
            </a:extLst>
          </p:cNvPr>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IN"/>
              <a:t>8</a:t>
            </a:fld>
            <a:endParaRPr/>
          </a:p>
        </p:txBody>
      </p:sp>
      <p:sp>
        <p:nvSpPr>
          <p:cNvPr id="4" name="TextBox 3">
            <a:extLst>
              <a:ext uri="{FF2B5EF4-FFF2-40B4-BE49-F238E27FC236}">
                <a16:creationId xmlns:a16="http://schemas.microsoft.com/office/drawing/2014/main" id="{7BA61EAD-0775-3BF3-AC12-E2C68ACFB3A7}"/>
              </a:ext>
            </a:extLst>
          </p:cNvPr>
          <p:cNvSpPr txBox="1"/>
          <p:nvPr/>
        </p:nvSpPr>
        <p:spPr>
          <a:xfrm>
            <a:off x="843280" y="386210"/>
            <a:ext cx="10510520" cy="1985159"/>
          </a:xfrm>
          <a:prstGeom prst="rect">
            <a:avLst/>
          </a:prstGeom>
          <a:noFill/>
        </p:spPr>
        <p:txBody>
          <a:bodyPr wrap="square">
            <a:spAutoFit/>
          </a:bodyPr>
          <a:lstStyle/>
          <a:p>
            <a:r>
              <a:rPr lang="en-IN" sz="2500" b="1" dirty="0">
                <a:solidFill>
                  <a:schemeClr val="accent2">
                    <a:lumMod val="20000"/>
                    <a:lumOff val="80000"/>
                  </a:schemeClr>
                </a:solidFill>
                <a:latin typeface="Roboto" panose="02000000000000000000" pitchFamily="2" charset="0"/>
                <a:ea typeface="Roboto" panose="02000000000000000000" pitchFamily="2" charset="0"/>
                <a:cs typeface="Roboto Light"/>
                <a:sym typeface="Roboto Light"/>
              </a:rPr>
              <a:t>Raw Data </a:t>
            </a:r>
            <a:r>
              <a:rPr lang="en-IN" sz="2500" dirty="0">
                <a:solidFill>
                  <a:schemeClr val="bg1">
                    <a:lumMod val="65000"/>
                  </a:schemeClr>
                </a:solidFill>
                <a:latin typeface="Roboto" panose="02000000000000000000" pitchFamily="2" charset="0"/>
                <a:ea typeface="Roboto" panose="02000000000000000000" pitchFamily="2" charset="0"/>
                <a:cs typeface="Roboto Light"/>
                <a:sym typeface="Roboto Light"/>
              </a:rPr>
              <a:t>(used for our analysis)</a:t>
            </a:r>
            <a:endParaRPr lang="en-IN" sz="2500" b="1" dirty="0">
              <a:solidFill>
                <a:schemeClr val="bg1">
                  <a:lumMod val="65000"/>
                </a:schemeClr>
              </a:solidFill>
              <a:latin typeface="Roboto" panose="02000000000000000000" pitchFamily="2" charset="0"/>
              <a:ea typeface="Roboto" panose="02000000000000000000" pitchFamily="2" charset="0"/>
              <a:cs typeface="Roboto Light"/>
              <a:sym typeface="Roboto Light"/>
            </a:endParaRPr>
          </a:p>
          <a:p>
            <a:endParaRPr lang="en-IN" sz="2500" b="1" i="0" u="none" strike="noStrike" dirty="0">
              <a:solidFill>
                <a:schemeClr val="accent2">
                  <a:lumMod val="20000"/>
                  <a:lumOff val="80000"/>
                </a:schemeClr>
              </a:solidFill>
              <a:effectLst/>
              <a:latin typeface="Roboto" panose="02000000000000000000" pitchFamily="2" charset="0"/>
              <a:ea typeface="Roboto" panose="02000000000000000000" pitchFamily="2" charset="0"/>
              <a:sym typeface="Roboto Light"/>
            </a:endParaRPr>
          </a:p>
          <a:p>
            <a:r>
              <a:rPr lang="en-IN" sz="2500" b="1" dirty="0">
                <a:solidFill>
                  <a:schemeClr val="accent2">
                    <a:lumMod val="20000"/>
                    <a:lumOff val="80000"/>
                  </a:schemeClr>
                </a:solidFill>
                <a:latin typeface="Roboto" panose="02000000000000000000" pitchFamily="2" charset="0"/>
                <a:ea typeface="Roboto" panose="02000000000000000000" pitchFamily="2" charset="0"/>
                <a:sym typeface="Roboto Light"/>
              </a:rPr>
              <a:t>		MERFISH mRNA data of Mouse Brain</a:t>
            </a:r>
          </a:p>
          <a:p>
            <a:r>
              <a:rPr lang="en-IN" sz="2500" b="1" i="0" u="none" strike="noStrike" dirty="0">
                <a:solidFill>
                  <a:schemeClr val="accent2">
                    <a:lumMod val="20000"/>
                    <a:lumOff val="80000"/>
                  </a:schemeClr>
                </a:solidFill>
                <a:effectLst/>
                <a:latin typeface="Roboto" panose="02000000000000000000" pitchFamily="2" charset="0"/>
                <a:ea typeface="Roboto" panose="02000000000000000000" pitchFamily="2" charset="0"/>
                <a:sym typeface="Roboto Light"/>
              </a:rPr>
              <a:t>	</a:t>
            </a:r>
            <a:r>
              <a:rPr lang="en-IN" sz="2000" i="0" u="none" strike="noStrike" dirty="0">
                <a:solidFill>
                  <a:schemeClr val="accent2">
                    <a:lumMod val="20000"/>
                    <a:lumOff val="80000"/>
                  </a:schemeClr>
                </a:solidFill>
                <a:effectLst/>
                <a:latin typeface="Roboto" panose="02000000000000000000" pitchFamily="2" charset="0"/>
                <a:ea typeface="Roboto" panose="02000000000000000000" pitchFamily="2" charset="0"/>
                <a:sym typeface="Roboto Light"/>
              </a:rPr>
              <a:t>Interactive on </a:t>
            </a:r>
            <a:r>
              <a:rPr lang="en-IN" sz="2000" i="0" u="none" strike="noStrike" dirty="0" err="1">
                <a:solidFill>
                  <a:schemeClr val="accent2">
                    <a:lumMod val="20000"/>
                    <a:lumOff val="80000"/>
                  </a:schemeClr>
                </a:solidFill>
                <a:effectLst/>
                <a:latin typeface="Roboto" panose="02000000000000000000" pitchFamily="2" charset="0"/>
                <a:ea typeface="Roboto" panose="02000000000000000000" pitchFamily="2" charset="0"/>
                <a:sym typeface="Roboto Light"/>
              </a:rPr>
              <a:t>Colab</a:t>
            </a:r>
            <a:endParaRPr lang="en-US" sz="2800" b="1" i="0" u="none" strike="noStrike" dirty="0">
              <a:solidFill>
                <a:srgbClr val="FFFFFF"/>
              </a:solidFill>
              <a:effectLst/>
              <a:latin typeface="Roboto" panose="02000000000000000000" pitchFamily="2" charset="0"/>
              <a:ea typeface="Roboto" panose="02000000000000000000" pitchFamily="2" charset="0"/>
            </a:endParaRPr>
          </a:p>
          <a:p>
            <a:pPr marL="457200" indent="-457200">
              <a:buClr>
                <a:schemeClr val="bg1"/>
              </a:buClr>
              <a:buFont typeface="+mj-lt"/>
              <a:buAutoNum type="arabicPeriod"/>
            </a:pPr>
            <a:endParaRPr lang="en-IN" sz="2000" dirty="0">
              <a:solidFill>
                <a:schemeClr val="bg1"/>
              </a:solidFill>
              <a:latin typeface="Roboto" panose="02000000000000000000" pitchFamily="2" charset="0"/>
              <a:ea typeface="Roboto" panose="02000000000000000000" pitchFamily="2" charset="0"/>
              <a:cs typeface="Roboto Light"/>
              <a:sym typeface="Roboto Light"/>
            </a:endParaRPr>
          </a:p>
        </p:txBody>
      </p:sp>
      <p:pic>
        <p:nvPicPr>
          <p:cNvPr id="5" name="Picture 4">
            <a:extLst>
              <a:ext uri="{FF2B5EF4-FFF2-40B4-BE49-F238E27FC236}">
                <a16:creationId xmlns:a16="http://schemas.microsoft.com/office/drawing/2014/main" id="{64EC8757-B1FE-8D8E-2026-BEB5DA27D1AA}"/>
              </a:ext>
            </a:extLst>
          </p:cNvPr>
          <p:cNvPicPr>
            <a:picLocks noChangeAspect="1"/>
          </p:cNvPicPr>
          <p:nvPr/>
        </p:nvPicPr>
        <p:blipFill>
          <a:blip r:embed="rId4"/>
          <a:stretch>
            <a:fillRect/>
          </a:stretch>
        </p:blipFill>
        <p:spPr>
          <a:xfrm>
            <a:off x="1221347" y="2131927"/>
            <a:ext cx="9743440" cy="3546304"/>
          </a:xfrm>
          <a:prstGeom prst="rect">
            <a:avLst/>
          </a:prstGeom>
        </p:spPr>
      </p:pic>
    </p:spTree>
    <p:extLst>
      <p:ext uri="{BB962C8B-B14F-4D97-AF65-F5344CB8AC3E}">
        <p14:creationId xmlns:p14="http://schemas.microsoft.com/office/powerpoint/2010/main" val="418048516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00">
          <a:extLst>
            <a:ext uri="{FF2B5EF4-FFF2-40B4-BE49-F238E27FC236}">
              <a16:creationId xmlns:a16="http://schemas.microsoft.com/office/drawing/2014/main" id="{D1734838-329A-F3E1-6127-0152105CF45E}"/>
            </a:ext>
          </a:extLst>
        </p:cNvPr>
        <p:cNvGrpSpPr/>
        <p:nvPr/>
      </p:nvGrpSpPr>
      <p:grpSpPr>
        <a:xfrm>
          <a:off x="0" y="0"/>
          <a:ext cx="0" cy="0"/>
          <a:chOff x="0" y="0"/>
          <a:chExt cx="0" cy="0"/>
        </a:xfrm>
      </p:grpSpPr>
      <p:sp>
        <p:nvSpPr>
          <p:cNvPr id="101" name="Google Shape;101;p2">
            <a:extLst>
              <a:ext uri="{FF2B5EF4-FFF2-40B4-BE49-F238E27FC236}">
                <a16:creationId xmlns:a16="http://schemas.microsoft.com/office/drawing/2014/main" id="{E11EF4F4-2A02-D94D-4B96-FB2E6DECCBDD}"/>
              </a:ext>
            </a:extLst>
          </p:cNvPr>
          <p:cNvSpPr/>
          <p:nvPr/>
        </p:nvSpPr>
        <p:spPr>
          <a:xfrm rot="2687220">
            <a:off x="-880866" y="-3237709"/>
            <a:ext cx="13947867" cy="9884465"/>
          </a:xfrm>
          <a:custGeom>
            <a:avLst/>
            <a:gdLst/>
            <a:ahLst/>
            <a:cxnLst/>
            <a:rect l="l" t="t" r="r" b="b"/>
            <a:pathLst>
              <a:path w="9777014" h="8127143" extrusionOk="0">
                <a:moveTo>
                  <a:pt x="0" y="0"/>
                </a:moveTo>
                <a:lnTo>
                  <a:pt x="9777013" y="0"/>
                </a:lnTo>
                <a:lnTo>
                  <a:pt x="9777013" y="8127142"/>
                </a:lnTo>
                <a:lnTo>
                  <a:pt x="0" y="8127142"/>
                </a:lnTo>
                <a:lnTo>
                  <a:pt x="0" y="0"/>
                </a:lnTo>
                <a:close/>
              </a:path>
            </a:pathLst>
          </a:custGeom>
          <a:blipFill rotWithShape="1">
            <a:blip r:embed="rId3">
              <a:alphaModFix amt="20000"/>
            </a:blip>
            <a:stretch>
              <a:fillRect/>
            </a:stretch>
          </a:blipFill>
          <a:ln>
            <a:noFill/>
          </a:ln>
          <a:effectLst>
            <a:outerShdw blurRad="50800" dist="50800" dir="5400000" algn="ctr" rotWithShape="0">
              <a:srgbClr val="000000"/>
            </a:outerShdw>
          </a:effectLst>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102" name="Google Shape;102;p2">
            <a:extLst>
              <a:ext uri="{FF2B5EF4-FFF2-40B4-BE49-F238E27FC236}">
                <a16:creationId xmlns:a16="http://schemas.microsoft.com/office/drawing/2014/main" id="{F05F8C38-61C8-F149-D078-BF832652467C}"/>
              </a:ext>
            </a:extLst>
          </p:cNvPr>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IN"/>
              <a:t>9</a:t>
            </a:fld>
            <a:endParaRPr/>
          </a:p>
        </p:txBody>
      </p:sp>
      <p:pic>
        <p:nvPicPr>
          <p:cNvPr id="5" name="Picture 4">
            <a:extLst>
              <a:ext uri="{FF2B5EF4-FFF2-40B4-BE49-F238E27FC236}">
                <a16:creationId xmlns:a16="http://schemas.microsoft.com/office/drawing/2014/main" id="{27775F74-4363-8275-C244-7A8239069B08}"/>
              </a:ext>
            </a:extLst>
          </p:cNvPr>
          <p:cNvPicPr>
            <a:picLocks noChangeAspect="1"/>
          </p:cNvPicPr>
          <p:nvPr/>
        </p:nvPicPr>
        <p:blipFill>
          <a:blip r:embed="rId4"/>
          <a:stretch>
            <a:fillRect/>
          </a:stretch>
        </p:blipFill>
        <p:spPr>
          <a:xfrm>
            <a:off x="0" y="586265"/>
            <a:ext cx="12609744" cy="4589548"/>
          </a:xfrm>
          <a:prstGeom prst="rect">
            <a:avLst/>
          </a:prstGeom>
        </p:spPr>
      </p:pic>
    </p:spTree>
    <p:extLst>
      <p:ext uri="{BB962C8B-B14F-4D97-AF65-F5344CB8AC3E}">
        <p14:creationId xmlns:p14="http://schemas.microsoft.com/office/powerpoint/2010/main" val="129969766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00">
          <a:extLst>
            <a:ext uri="{FF2B5EF4-FFF2-40B4-BE49-F238E27FC236}">
              <a16:creationId xmlns:a16="http://schemas.microsoft.com/office/drawing/2014/main" id="{1A7F22CB-28D8-9D97-DC54-E3C34C82A9D7}"/>
            </a:ext>
          </a:extLst>
        </p:cNvPr>
        <p:cNvGrpSpPr/>
        <p:nvPr/>
      </p:nvGrpSpPr>
      <p:grpSpPr>
        <a:xfrm>
          <a:off x="0" y="0"/>
          <a:ext cx="0" cy="0"/>
          <a:chOff x="0" y="0"/>
          <a:chExt cx="0" cy="0"/>
        </a:xfrm>
      </p:grpSpPr>
      <p:sp>
        <p:nvSpPr>
          <p:cNvPr id="101" name="Google Shape;101;p2">
            <a:extLst>
              <a:ext uri="{FF2B5EF4-FFF2-40B4-BE49-F238E27FC236}">
                <a16:creationId xmlns:a16="http://schemas.microsoft.com/office/drawing/2014/main" id="{C76002A5-5BB8-F49E-AB61-BFA31C71E9D8}"/>
              </a:ext>
            </a:extLst>
          </p:cNvPr>
          <p:cNvSpPr/>
          <p:nvPr/>
        </p:nvSpPr>
        <p:spPr>
          <a:xfrm rot="2687220">
            <a:off x="-880866" y="-3237709"/>
            <a:ext cx="13947867" cy="9884465"/>
          </a:xfrm>
          <a:custGeom>
            <a:avLst/>
            <a:gdLst/>
            <a:ahLst/>
            <a:cxnLst/>
            <a:rect l="l" t="t" r="r" b="b"/>
            <a:pathLst>
              <a:path w="9777014" h="8127143" extrusionOk="0">
                <a:moveTo>
                  <a:pt x="0" y="0"/>
                </a:moveTo>
                <a:lnTo>
                  <a:pt x="9777013" y="0"/>
                </a:lnTo>
                <a:lnTo>
                  <a:pt x="9777013" y="8127142"/>
                </a:lnTo>
                <a:lnTo>
                  <a:pt x="0" y="8127142"/>
                </a:lnTo>
                <a:lnTo>
                  <a:pt x="0" y="0"/>
                </a:lnTo>
                <a:close/>
              </a:path>
            </a:pathLst>
          </a:custGeom>
          <a:blipFill rotWithShape="1">
            <a:blip r:embed="rId3">
              <a:alphaModFix amt="20000"/>
            </a:blip>
            <a:stretch>
              <a:fillRect/>
            </a:stretch>
          </a:blipFill>
          <a:ln>
            <a:noFill/>
          </a:ln>
          <a:effectLst>
            <a:outerShdw blurRad="50800" dist="50800" dir="5400000" algn="ctr" rotWithShape="0">
              <a:srgbClr val="000000"/>
            </a:outerShdw>
          </a:effectLst>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102" name="Google Shape;102;p2">
            <a:extLst>
              <a:ext uri="{FF2B5EF4-FFF2-40B4-BE49-F238E27FC236}">
                <a16:creationId xmlns:a16="http://schemas.microsoft.com/office/drawing/2014/main" id="{1F4D6448-0C4E-73DC-BDF4-030ACD75F123}"/>
              </a:ext>
            </a:extLst>
          </p:cNvPr>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IN"/>
              <a:t>10</a:t>
            </a:fld>
            <a:endParaRPr/>
          </a:p>
        </p:txBody>
      </p:sp>
      <p:sp>
        <p:nvSpPr>
          <p:cNvPr id="4" name="TextBox 3">
            <a:extLst>
              <a:ext uri="{FF2B5EF4-FFF2-40B4-BE49-F238E27FC236}">
                <a16:creationId xmlns:a16="http://schemas.microsoft.com/office/drawing/2014/main" id="{DD218831-E8BE-C029-699D-C2B4F51C1422}"/>
              </a:ext>
            </a:extLst>
          </p:cNvPr>
          <p:cNvSpPr txBox="1"/>
          <p:nvPr/>
        </p:nvSpPr>
        <p:spPr>
          <a:xfrm>
            <a:off x="843280" y="386210"/>
            <a:ext cx="10510520" cy="1631216"/>
          </a:xfrm>
          <a:prstGeom prst="rect">
            <a:avLst/>
          </a:prstGeom>
          <a:noFill/>
        </p:spPr>
        <p:txBody>
          <a:bodyPr wrap="square">
            <a:spAutoFit/>
          </a:bodyPr>
          <a:lstStyle/>
          <a:p>
            <a:r>
              <a:rPr lang="en-IN" sz="2500" b="1" dirty="0">
                <a:solidFill>
                  <a:schemeClr val="accent2">
                    <a:lumMod val="20000"/>
                    <a:lumOff val="80000"/>
                  </a:schemeClr>
                </a:solidFill>
                <a:latin typeface="Roboto" panose="02000000000000000000" pitchFamily="2" charset="0"/>
                <a:ea typeface="Roboto" panose="02000000000000000000" pitchFamily="2" charset="0"/>
                <a:cs typeface="Roboto Light"/>
                <a:sym typeface="Roboto Light"/>
              </a:rPr>
              <a:t>Post Processed Data </a:t>
            </a:r>
            <a:endParaRPr lang="en-IN" sz="2500" b="1" dirty="0">
              <a:solidFill>
                <a:schemeClr val="bg1">
                  <a:lumMod val="65000"/>
                </a:schemeClr>
              </a:solidFill>
              <a:latin typeface="Roboto" panose="02000000000000000000" pitchFamily="2" charset="0"/>
              <a:ea typeface="Roboto" panose="02000000000000000000" pitchFamily="2" charset="0"/>
              <a:cs typeface="Roboto Light"/>
              <a:sym typeface="Roboto Light"/>
            </a:endParaRPr>
          </a:p>
          <a:p>
            <a:endParaRPr lang="en-IN" sz="2500" b="1" dirty="0">
              <a:solidFill>
                <a:schemeClr val="bg1">
                  <a:lumMod val="65000"/>
                </a:schemeClr>
              </a:solidFill>
              <a:latin typeface="Roboto" panose="02000000000000000000" pitchFamily="2" charset="0"/>
              <a:ea typeface="Roboto" panose="02000000000000000000" pitchFamily="2" charset="0"/>
              <a:sym typeface="Roboto Light"/>
            </a:endParaRPr>
          </a:p>
          <a:p>
            <a:r>
              <a:rPr lang="en-IN" sz="2500" b="1" dirty="0">
                <a:solidFill>
                  <a:schemeClr val="accent2">
                    <a:lumMod val="20000"/>
                    <a:lumOff val="80000"/>
                  </a:schemeClr>
                </a:solidFill>
                <a:latin typeface="Roboto" panose="02000000000000000000" pitchFamily="2" charset="0"/>
                <a:ea typeface="Roboto" panose="02000000000000000000" pitchFamily="2" charset="0"/>
                <a:sym typeface="Roboto Light"/>
              </a:rPr>
              <a:t>		MERFISH mRNA data of Mouse Brain</a:t>
            </a:r>
          </a:p>
          <a:p>
            <a:r>
              <a:rPr lang="en-IN" sz="2500" b="1" i="0" u="none" strike="noStrike" dirty="0">
                <a:solidFill>
                  <a:schemeClr val="accent2">
                    <a:lumMod val="20000"/>
                    <a:lumOff val="80000"/>
                  </a:schemeClr>
                </a:solidFill>
                <a:effectLst/>
                <a:latin typeface="Roboto" panose="02000000000000000000" pitchFamily="2" charset="0"/>
                <a:ea typeface="Roboto" panose="02000000000000000000" pitchFamily="2" charset="0"/>
                <a:sym typeface="Roboto Light"/>
              </a:rPr>
              <a:t>	</a:t>
            </a:r>
            <a:r>
              <a:rPr lang="en-IN" sz="2000" i="0" u="none" strike="noStrike" dirty="0">
                <a:solidFill>
                  <a:schemeClr val="accent2">
                    <a:lumMod val="20000"/>
                    <a:lumOff val="80000"/>
                  </a:schemeClr>
                </a:solidFill>
                <a:effectLst/>
                <a:latin typeface="Roboto" panose="02000000000000000000" pitchFamily="2" charset="0"/>
                <a:ea typeface="Roboto" panose="02000000000000000000" pitchFamily="2" charset="0"/>
                <a:sym typeface="Roboto Light"/>
              </a:rPr>
              <a:t>After modelling the radius neighbourhood of the dense and random data  </a:t>
            </a:r>
            <a:endParaRPr lang="en-IN" sz="2000" dirty="0">
              <a:solidFill>
                <a:schemeClr val="bg1"/>
              </a:solidFill>
              <a:latin typeface="Roboto" panose="02000000000000000000" pitchFamily="2" charset="0"/>
              <a:ea typeface="Roboto" panose="02000000000000000000" pitchFamily="2" charset="0"/>
              <a:cs typeface="Roboto Light"/>
              <a:sym typeface="Roboto Light"/>
            </a:endParaRPr>
          </a:p>
        </p:txBody>
      </p:sp>
      <p:pic>
        <p:nvPicPr>
          <p:cNvPr id="3" name="Picture 2">
            <a:extLst>
              <a:ext uri="{FF2B5EF4-FFF2-40B4-BE49-F238E27FC236}">
                <a16:creationId xmlns:a16="http://schemas.microsoft.com/office/drawing/2014/main" id="{0603527C-856F-2B5D-4E49-12559270E361}"/>
              </a:ext>
            </a:extLst>
          </p:cNvPr>
          <p:cNvPicPr>
            <a:picLocks noChangeAspect="1"/>
          </p:cNvPicPr>
          <p:nvPr/>
        </p:nvPicPr>
        <p:blipFill>
          <a:blip r:embed="rId4"/>
          <a:stretch>
            <a:fillRect/>
          </a:stretch>
        </p:blipFill>
        <p:spPr>
          <a:xfrm>
            <a:off x="558800" y="2234713"/>
            <a:ext cx="10789920" cy="3836563"/>
          </a:xfrm>
          <a:prstGeom prst="rect">
            <a:avLst/>
          </a:prstGeom>
        </p:spPr>
      </p:pic>
    </p:spTree>
    <p:extLst>
      <p:ext uri="{BB962C8B-B14F-4D97-AF65-F5344CB8AC3E}">
        <p14:creationId xmlns:p14="http://schemas.microsoft.com/office/powerpoint/2010/main" val="364914673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00">
          <a:extLst>
            <a:ext uri="{FF2B5EF4-FFF2-40B4-BE49-F238E27FC236}">
              <a16:creationId xmlns:a16="http://schemas.microsoft.com/office/drawing/2014/main" id="{11BA7BCF-07B5-4536-A31B-522C786729F6}"/>
            </a:ext>
          </a:extLst>
        </p:cNvPr>
        <p:cNvGrpSpPr/>
        <p:nvPr/>
      </p:nvGrpSpPr>
      <p:grpSpPr>
        <a:xfrm>
          <a:off x="0" y="0"/>
          <a:ext cx="0" cy="0"/>
          <a:chOff x="0" y="0"/>
          <a:chExt cx="0" cy="0"/>
        </a:xfrm>
      </p:grpSpPr>
      <p:sp>
        <p:nvSpPr>
          <p:cNvPr id="101" name="Google Shape;101;p2">
            <a:extLst>
              <a:ext uri="{FF2B5EF4-FFF2-40B4-BE49-F238E27FC236}">
                <a16:creationId xmlns:a16="http://schemas.microsoft.com/office/drawing/2014/main" id="{C8C8CDEE-0EBC-9EAA-B1F4-82EB1A7B0729}"/>
              </a:ext>
            </a:extLst>
          </p:cNvPr>
          <p:cNvSpPr/>
          <p:nvPr/>
        </p:nvSpPr>
        <p:spPr>
          <a:xfrm rot="2687220">
            <a:off x="-880866" y="-3237709"/>
            <a:ext cx="13947867" cy="9884465"/>
          </a:xfrm>
          <a:custGeom>
            <a:avLst/>
            <a:gdLst/>
            <a:ahLst/>
            <a:cxnLst/>
            <a:rect l="l" t="t" r="r" b="b"/>
            <a:pathLst>
              <a:path w="9777014" h="8127143" extrusionOk="0">
                <a:moveTo>
                  <a:pt x="0" y="0"/>
                </a:moveTo>
                <a:lnTo>
                  <a:pt x="9777013" y="0"/>
                </a:lnTo>
                <a:lnTo>
                  <a:pt x="9777013" y="8127142"/>
                </a:lnTo>
                <a:lnTo>
                  <a:pt x="0" y="8127142"/>
                </a:lnTo>
                <a:lnTo>
                  <a:pt x="0" y="0"/>
                </a:lnTo>
                <a:close/>
              </a:path>
            </a:pathLst>
          </a:custGeom>
          <a:blipFill rotWithShape="1">
            <a:blip r:embed="rId3">
              <a:alphaModFix amt="20000"/>
            </a:blip>
            <a:stretch>
              <a:fillRect/>
            </a:stretch>
          </a:blipFill>
          <a:ln>
            <a:noFill/>
          </a:ln>
          <a:effectLst>
            <a:outerShdw blurRad="50800" dist="50800" dir="5400000" algn="ctr" rotWithShape="0">
              <a:srgbClr val="000000"/>
            </a:outerShdw>
          </a:effectLst>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102" name="Google Shape;102;p2">
            <a:extLst>
              <a:ext uri="{FF2B5EF4-FFF2-40B4-BE49-F238E27FC236}">
                <a16:creationId xmlns:a16="http://schemas.microsoft.com/office/drawing/2014/main" id="{B5155EA9-108C-7FCF-E7EE-AC8B7F358682}"/>
              </a:ext>
            </a:extLst>
          </p:cNvPr>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IN"/>
              <a:t>11</a:t>
            </a:fld>
            <a:endParaRPr/>
          </a:p>
        </p:txBody>
      </p:sp>
      <p:pic>
        <p:nvPicPr>
          <p:cNvPr id="3" name="Picture 2">
            <a:extLst>
              <a:ext uri="{FF2B5EF4-FFF2-40B4-BE49-F238E27FC236}">
                <a16:creationId xmlns:a16="http://schemas.microsoft.com/office/drawing/2014/main" id="{4C3AB757-1734-CF46-0F67-C188CA59AA44}"/>
              </a:ext>
            </a:extLst>
          </p:cNvPr>
          <p:cNvPicPr>
            <a:picLocks noChangeAspect="1"/>
          </p:cNvPicPr>
          <p:nvPr/>
        </p:nvPicPr>
        <p:blipFill>
          <a:blip r:embed="rId4"/>
          <a:stretch>
            <a:fillRect/>
          </a:stretch>
        </p:blipFill>
        <p:spPr>
          <a:xfrm>
            <a:off x="63288" y="659913"/>
            <a:ext cx="12059558" cy="4288007"/>
          </a:xfrm>
          <a:prstGeom prst="rect">
            <a:avLst/>
          </a:prstGeom>
        </p:spPr>
      </p:pic>
    </p:spTree>
    <p:extLst>
      <p:ext uri="{BB962C8B-B14F-4D97-AF65-F5344CB8AC3E}">
        <p14:creationId xmlns:p14="http://schemas.microsoft.com/office/powerpoint/2010/main" val="51669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00">
          <a:extLst>
            <a:ext uri="{FF2B5EF4-FFF2-40B4-BE49-F238E27FC236}">
              <a16:creationId xmlns:a16="http://schemas.microsoft.com/office/drawing/2014/main" id="{739589C4-29FF-48A9-21AD-DE74A8A01314}"/>
            </a:ext>
          </a:extLst>
        </p:cNvPr>
        <p:cNvGrpSpPr/>
        <p:nvPr/>
      </p:nvGrpSpPr>
      <p:grpSpPr>
        <a:xfrm>
          <a:off x="0" y="0"/>
          <a:ext cx="0" cy="0"/>
          <a:chOff x="0" y="0"/>
          <a:chExt cx="0" cy="0"/>
        </a:xfrm>
      </p:grpSpPr>
      <p:sp>
        <p:nvSpPr>
          <p:cNvPr id="101" name="Google Shape;101;p2">
            <a:extLst>
              <a:ext uri="{FF2B5EF4-FFF2-40B4-BE49-F238E27FC236}">
                <a16:creationId xmlns:a16="http://schemas.microsoft.com/office/drawing/2014/main" id="{860BE614-842E-17CD-FAC0-53D983B4E990}"/>
              </a:ext>
            </a:extLst>
          </p:cNvPr>
          <p:cNvSpPr/>
          <p:nvPr/>
        </p:nvSpPr>
        <p:spPr>
          <a:xfrm rot="2687220">
            <a:off x="-880866" y="-3237709"/>
            <a:ext cx="13947867" cy="9884465"/>
          </a:xfrm>
          <a:custGeom>
            <a:avLst/>
            <a:gdLst/>
            <a:ahLst/>
            <a:cxnLst/>
            <a:rect l="l" t="t" r="r" b="b"/>
            <a:pathLst>
              <a:path w="9777014" h="8127143" extrusionOk="0">
                <a:moveTo>
                  <a:pt x="0" y="0"/>
                </a:moveTo>
                <a:lnTo>
                  <a:pt x="9777013" y="0"/>
                </a:lnTo>
                <a:lnTo>
                  <a:pt x="9777013" y="8127142"/>
                </a:lnTo>
                <a:lnTo>
                  <a:pt x="0" y="8127142"/>
                </a:lnTo>
                <a:lnTo>
                  <a:pt x="0" y="0"/>
                </a:lnTo>
                <a:close/>
              </a:path>
            </a:pathLst>
          </a:custGeom>
          <a:blipFill rotWithShape="1">
            <a:blip r:embed="rId3">
              <a:alphaModFix amt="20000"/>
            </a:blip>
            <a:stretch>
              <a:fillRect/>
            </a:stretch>
          </a:blipFill>
          <a:ln>
            <a:noFill/>
          </a:ln>
          <a:effectLst>
            <a:outerShdw blurRad="50800" dist="50800" dir="5400000" algn="ctr" rotWithShape="0">
              <a:srgbClr val="000000"/>
            </a:outerShdw>
          </a:effectLst>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102" name="Google Shape;102;p2">
            <a:extLst>
              <a:ext uri="{FF2B5EF4-FFF2-40B4-BE49-F238E27FC236}">
                <a16:creationId xmlns:a16="http://schemas.microsoft.com/office/drawing/2014/main" id="{6418B5FD-1963-E6FC-5F47-D01951FFAED7}"/>
              </a:ext>
            </a:extLst>
          </p:cNvPr>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IN"/>
              <a:t>12</a:t>
            </a:fld>
            <a:endParaRPr/>
          </a:p>
        </p:txBody>
      </p:sp>
      <p:pic>
        <p:nvPicPr>
          <p:cNvPr id="4" name="Picture 3">
            <a:extLst>
              <a:ext uri="{FF2B5EF4-FFF2-40B4-BE49-F238E27FC236}">
                <a16:creationId xmlns:a16="http://schemas.microsoft.com/office/drawing/2014/main" id="{E5FFC1F9-F4A0-E75F-C07A-75412DA208CC}"/>
              </a:ext>
            </a:extLst>
          </p:cNvPr>
          <p:cNvPicPr>
            <a:picLocks noChangeAspect="1"/>
          </p:cNvPicPr>
          <p:nvPr/>
        </p:nvPicPr>
        <p:blipFill>
          <a:blip r:embed="rId4"/>
          <a:stretch>
            <a:fillRect/>
          </a:stretch>
        </p:blipFill>
        <p:spPr>
          <a:xfrm>
            <a:off x="0" y="640081"/>
            <a:ext cx="12192000" cy="5716270"/>
          </a:xfrm>
          <a:prstGeom prst="rect">
            <a:avLst/>
          </a:prstGeom>
        </p:spPr>
      </p:pic>
    </p:spTree>
    <p:extLst>
      <p:ext uri="{BB962C8B-B14F-4D97-AF65-F5344CB8AC3E}">
        <p14:creationId xmlns:p14="http://schemas.microsoft.com/office/powerpoint/2010/main" val="218448529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00">
          <a:extLst>
            <a:ext uri="{FF2B5EF4-FFF2-40B4-BE49-F238E27FC236}">
              <a16:creationId xmlns:a16="http://schemas.microsoft.com/office/drawing/2014/main" id="{03773691-A3D2-DEEB-5E8A-F678905FD26A}"/>
            </a:ext>
          </a:extLst>
        </p:cNvPr>
        <p:cNvGrpSpPr/>
        <p:nvPr/>
      </p:nvGrpSpPr>
      <p:grpSpPr>
        <a:xfrm>
          <a:off x="0" y="0"/>
          <a:ext cx="0" cy="0"/>
          <a:chOff x="0" y="0"/>
          <a:chExt cx="0" cy="0"/>
        </a:xfrm>
      </p:grpSpPr>
      <p:sp>
        <p:nvSpPr>
          <p:cNvPr id="101" name="Google Shape;101;p2">
            <a:extLst>
              <a:ext uri="{FF2B5EF4-FFF2-40B4-BE49-F238E27FC236}">
                <a16:creationId xmlns:a16="http://schemas.microsoft.com/office/drawing/2014/main" id="{BAB77927-9F97-6F4B-D2A8-A9E54D1A1EDA}"/>
              </a:ext>
            </a:extLst>
          </p:cNvPr>
          <p:cNvSpPr/>
          <p:nvPr/>
        </p:nvSpPr>
        <p:spPr>
          <a:xfrm rot="2687220">
            <a:off x="-880866" y="-3237709"/>
            <a:ext cx="13947867" cy="9884465"/>
          </a:xfrm>
          <a:custGeom>
            <a:avLst/>
            <a:gdLst/>
            <a:ahLst/>
            <a:cxnLst/>
            <a:rect l="l" t="t" r="r" b="b"/>
            <a:pathLst>
              <a:path w="9777014" h="8127143" extrusionOk="0">
                <a:moveTo>
                  <a:pt x="0" y="0"/>
                </a:moveTo>
                <a:lnTo>
                  <a:pt x="9777013" y="0"/>
                </a:lnTo>
                <a:lnTo>
                  <a:pt x="9777013" y="8127142"/>
                </a:lnTo>
                <a:lnTo>
                  <a:pt x="0" y="8127142"/>
                </a:lnTo>
                <a:lnTo>
                  <a:pt x="0" y="0"/>
                </a:lnTo>
                <a:close/>
              </a:path>
            </a:pathLst>
          </a:custGeom>
          <a:blipFill rotWithShape="1">
            <a:blip r:embed="rId3">
              <a:alphaModFix amt="20000"/>
            </a:blip>
            <a:stretch>
              <a:fillRect/>
            </a:stretch>
          </a:blipFill>
          <a:ln>
            <a:noFill/>
          </a:ln>
          <a:effectLst>
            <a:outerShdw blurRad="50800" dist="50800" dir="5400000" algn="ctr" rotWithShape="0">
              <a:srgbClr val="000000"/>
            </a:outerShdw>
          </a:effectLst>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102" name="Google Shape;102;p2">
            <a:extLst>
              <a:ext uri="{FF2B5EF4-FFF2-40B4-BE49-F238E27FC236}">
                <a16:creationId xmlns:a16="http://schemas.microsoft.com/office/drawing/2014/main" id="{DF75D8D1-D2B6-67F8-609A-EB40FFA1EB81}"/>
              </a:ext>
            </a:extLst>
          </p:cNvPr>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IN"/>
              <a:t>13</a:t>
            </a:fld>
            <a:endParaRPr/>
          </a:p>
        </p:txBody>
      </p:sp>
      <p:pic>
        <p:nvPicPr>
          <p:cNvPr id="3" name="Picture 2">
            <a:extLst>
              <a:ext uri="{FF2B5EF4-FFF2-40B4-BE49-F238E27FC236}">
                <a16:creationId xmlns:a16="http://schemas.microsoft.com/office/drawing/2014/main" id="{C4464A38-A6D3-0283-9028-DD992356530C}"/>
              </a:ext>
            </a:extLst>
          </p:cNvPr>
          <p:cNvPicPr>
            <a:picLocks noChangeAspect="1"/>
          </p:cNvPicPr>
          <p:nvPr/>
        </p:nvPicPr>
        <p:blipFill>
          <a:blip r:embed="rId4"/>
          <a:stretch>
            <a:fillRect/>
          </a:stretch>
        </p:blipFill>
        <p:spPr>
          <a:xfrm>
            <a:off x="0" y="589280"/>
            <a:ext cx="12192000" cy="5767069"/>
          </a:xfrm>
          <a:prstGeom prst="rect">
            <a:avLst/>
          </a:prstGeom>
        </p:spPr>
      </p:pic>
    </p:spTree>
    <p:extLst>
      <p:ext uri="{BB962C8B-B14F-4D97-AF65-F5344CB8AC3E}">
        <p14:creationId xmlns:p14="http://schemas.microsoft.com/office/powerpoint/2010/main" val="26314649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00">
          <a:extLst>
            <a:ext uri="{FF2B5EF4-FFF2-40B4-BE49-F238E27FC236}">
              <a16:creationId xmlns:a16="http://schemas.microsoft.com/office/drawing/2014/main" id="{144557D8-FF31-DCC8-791B-12BDB27540E9}"/>
            </a:ext>
          </a:extLst>
        </p:cNvPr>
        <p:cNvGrpSpPr/>
        <p:nvPr/>
      </p:nvGrpSpPr>
      <p:grpSpPr>
        <a:xfrm>
          <a:off x="0" y="0"/>
          <a:ext cx="0" cy="0"/>
          <a:chOff x="0" y="0"/>
          <a:chExt cx="0" cy="0"/>
        </a:xfrm>
      </p:grpSpPr>
      <p:sp>
        <p:nvSpPr>
          <p:cNvPr id="101" name="Google Shape;101;p2">
            <a:extLst>
              <a:ext uri="{FF2B5EF4-FFF2-40B4-BE49-F238E27FC236}">
                <a16:creationId xmlns:a16="http://schemas.microsoft.com/office/drawing/2014/main" id="{4831BA68-05F3-B826-3E52-0C3C08215A10}"/>
              </a:ext>
            </a:extLst>
          </p:cNvPr>
          <p:cNvSpPr/>
          <p:nvPr/>
        </p:nvSpPr>
        <p:spPr>
          <a:xfrm rot="2687220">
            <a:off x="-880866" y="-3237709"/>
            <a:ext cx="13947867" cy="9884465"/>
          </a:xfrm>
          <a:custGeom>
            <a:avLst/>
            <a:gdLst/>
            <a:ahLst/>
            <a:cxnLst/>
            <a:rect l="l" t="t" r="r" b="b"/>
            <a:pathLst>
              <a:path w="9777014" h="8127143" extrusionOk="0">
                <a:moveTo>
                  <a:pt x="0" y="0"/>
                </a:moveTo>
                <a:lnTo>
                  <a:pt x="9777013" y="0"/>
                </a:lnTo>
                <a:lnTo>
                  <a:pt x="9777013" y="8127142"/>
                </a:lnTo>
                <a:lnTo>
                  <a:pt x="0" y="8127142"/>
                </a:lnTo>
                <a:lnTo>
                  <a:pt x="0" y="0"/>
                </a:lnTo>
                <a:close/>
              </a:path>
            </a:pathLst>
          </a:custGeom>
          <a:blipFill rotWithShape="1">
            <a:blip r:embed="rId3">
              <a:alphaModFix amt="20000"/>
            </a:blip>
            <a:stretch>
              <a:fillRect/>
            </a:stretch>
          </a:blipFill>
          <a:ln>
            <a:noFill/>
          </a:ln>
          <a:effectLst>
            <a:outerShdw blurRad="50800" dist="50800" dir="5400000" algn="ctr" rotWithShape="0">
              <a:srgbClr val="000000"/>
            </a:outerShdw>
          </a:effectLst>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102" name="Google Shape;102;p2">
            <a:extLst>
              <a:ext uri="{FF2B5EF4-FFF2-40B4-BE49-F238E27FC236}">
                <a16:creationId xmlns:a16="http://schemas.microsoft.com/office/drawing/2014/main" id="{648ECCEC-DF04-819F-7417-7E0E8EB5F29F}"/>
              </a:ext>
            </a:extLst>
          </p:cNvPr>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IN"/>
              <a:t>14</a:t>
            </a:fld>
            <a:endParaRPr/>
          </a:p>
        </p:txBody>
      </p:sp>
      <p:sp>
        <p:nvSpPr>
          <p:cNvPr id="4" name="TextBox 3">
            <a:extLst>
              <a:ext uri="{FF2B5EF4-FFF2-40B4-BE49-F238E27FC236}">
                <a16:creationId xmlns:a16="http://schemas.microsoft.com/office/drawing/2014/main" id="{BFF9A16F-FC85-0370-0214-EB1D1193CD79}"/>
              </a:ext>
            </a:extLst>
          </p:cNvPr>
          <p:cNvSpPr txBox="1"/>
          <p:nvPr/>
        </p:nvSpPr>
        <p:spPr>
          <a:xfrm>
            <a:off x="494907" y="995810"/>
            <a:ext cx="11196320" cy="4401205"/>
          </a:xfrm>
          <a:prstGeom prst="rect">
            <a:avLst/>
          </a:prstGeom>
          <a:noFill/>
        </p:spPr>
        <p:txBody>
          <a:bodyPr wrap="square">
            <a:spAutoFit/>
          </a:bodyPr>
          <a:lstStyle/>
          <a:p>
            <a:r>
              <a:rPr lang="en-IN" sz="2500" b="1" dirty="0">
                <a:solidFill>
                  <a:schemeClr val="accent2">
                    <a:lumMod val="20000"/>
                    <a:lumOff val="80000"/>
                  </a:schemeClr>
                </a:solidFill>
                <a:latin typeface="Roboto" panose="02000000000000000000" pitchFamily="2" charset="0"/>
                <a:ea typeface="Roboto" panose="02000000000000000000" pitchFamily="2" charset="0"/>
                <a:cs typeface="Roboto Light"/>
                <a:sym typeface="Roboto Light"/>
              </a:rPr>
              <a:t>Post Processed Data </a:t>
            </a:r>
            <a:endParaRPr lang="en-IN" sz="2500" b="1" dirty="0">
              <a:solidFill>
                <a:schemeClr val="bg1">
                  <a:lumMod val="65000"/>
                </a:schemeClr>
              </a:solidFill>
              <a:latin typeface="Roboto" panose="02000000000000000000" pitchFamily="2" charset="0"/>
              <a:ea typeface="Roboto" panose="02000000000000000000" pitchFamily="2" charset="0"/>
              <a:cs typeface="Roboto Light"/>
              <a:sym typeface="Roboto Light"/>
            </a:endParaRPr>
          </a:p>
          <a:p>
            <a:endParaRPr lang="en-IN" sz="2500" b="1" dirty="0">
              <a:solidFill>
                <a:schemeClr val="bg1">
                  <a:lumMod val="65000"/>
                </a:schemeClr>
              </a:solidFill>
              <a:latin typeface="Roboto" panose="02000000000000000000" pitchFamily="2" charset="0"/>
              <a:ea typeface="Roboto" panose="02000000000000000000" pitchFamily="2" charset="0"/>
              <a:sym typeface="Roboto Light"/>
            </a:endParaRPr>
          </a:p>
          <a:p>
            <a:r>
              <a:rPr lang="en-IN" sz="2500" b="1" dirty="0">
                <a:solidFill>
                  <a:schemeClr val="accent2">
                    <a:lumMod val="20000"/>
                    <a:lumOff val="80000"/>
                  </a:schemeClr>
                </a:solidFill>
                <a:latin typeface="Roboto" panose="02000000000000000000" pitchFamily="2" charset="0"/>
                <a:ea typeface="Roboto" panose="02000000000000000000" pitchFamily="2" charset="0"/>
                <a:sym typeface="Roboto Light"/>
              </a:rPr>
              <a:t>		MERFISH mRNA data of Mouse Brain</a:t>
            </a:r>
          </a:p>
          <a:p>
            <a:r>
              <a:rPr lang="en-IN" sz="2500" b="1" i="0" u="none" strike="noStrike" dirty="0">
                <a:solidFill>
                  <a:schemeClr val="accent2">
                    <a:lumMod val="20000"/>
                    <a:lumOff val="80000"/>
                  </a:schemeClr>
                </a:solidFill>
                <a:effectLst/>
                <a:latin typeface="Roboto" panose="02000000000000000000" pitchFamily="2" charset="0"/>
                <a:ea typeface="Roboto" panose="02000000000000000000" pitchFamily="2" charset="0"/>
                <a:sym typeface="Roboto Light"/>
              </a:rPr>
              <a:t>	</a:t>
            </a:r>
            <a:r>
              <a:rPr lang="en-IN" sz="2000" i="0" u="none" strike="noStrike" dirty="0">
                <a:solidFill>
                  <a:schemeClr val="accent2">
                    <a:lumMod val="20000"/>
                    <a:lumOff val="80000"/>
                  </a:schemeClr>
                </a:solidFill>
                <a:effectLst/>
                <a:latin typeface="Roboto" panose="02000000000000000000" pitchFamily="2" charset="0"/>
                <a:ea typeface="Roboto" panose="02000000000000000000" pitchFamily="2" charset="0"/>
                <a:sym typeface="Roboto Light"/>
              </a:rPr>
              <a:t>After modelling the radius neighbourhood of the dense and random data</a:t>
            </a:r>
          </a:p>
          <a:p>
            <a:endParaRPr lang="en-IN" sz="2000" dirty="0">
              <a:solidFill>
                <a:schemeClr val="accent2">
                  <a:lumMod val="20000"/>
                  <a:lumOff val="80000"/>
                </a:schemeClr>
              </a:solidFill>
              <a:latin typeface="Roboto" panose="02000000000000000000" pitchFamily="2" charset="0"/>
              <a:ea typeface="Roboto" panose="02000000000000000000" pitchFamily="2" charset="0"/>
              <a:sym typeface="Roboto Light"/>
            </a:endParaRPr>
          </a:p>
          <a:p>
            <a:pPr marL="342900" indent="-342900">
              <a:buClr>
                <a:schemeClr val="bg1"/>
              </a:buClr>
              <a:buFont typeface="Arial" panose="020B0604020202020204" pitchFamily="34" charset="0"/>
              <a:buChar char="•"/>
            </a:pPr>
            <a:r>
              <a:rPr lang="en-IN" sz="2000" i="0" u="none" strike="noStrike" dirty="0" err="1">
                <a:solidFill>
                  <a:schemeClr val="accent2">
                    <a:lumMod val="20000"/>
                    <a:lumOff val="80000"/>
                  </a:schemeClr>
                </a:solidFill>
                <a:effectLst/>
                <a:latin typeface="Roboto" panose="02000000000000000000" pitchFamily="2" charset="0"/>
                <a:ea typeface="Roboto" panose="02000000000000000000" pitchFamily="2" charset="0"/>
                <a:sym typeface="Roboto Light"/>
              </a:rPr>
              <a:t>Center</a:t>
            </a:r>
            <a:r>
              <a:rPr lang="en-IN" sz="2000" i="0" u="none" strike="noStrike" dirty="0">
                <a:solidFill>
                  <a:schemeClr val="accent2">
                    <a:lumMod val="20000"/>
                    <a:lumOff val="80000"/>
                  </a:schemeClr>
                </a:solidFill>
                <a:effectLst/>
                <a:latin typeface="Roboto" panose="02000000000000000000" pitchFamily="2" charset="0"/>
                <a:ea typeface="Roboto" panose="02000000000000000000" pitchFamily="2" charset="0"/>
                <a:sym typeface="Roboto Light"/>
              </a:rPr>
              <a:t> </a:t>
            </a:r>
            <a:r>
              <a:rPr lang="en-IN" sz="2000" i="0" u="none" strike="noStrike" dirty="0" err="1">
                <a:solidFill>
                  <a:schemeClr val="accent2">
                    <a:lumMod val="20000"/>
                    <a:lumOff val="80000"/>
                  </a:schemeClr>
                </a:solidFill>
                <a:effectLst/>
                <a:latin typeface="Roboto" panose="02000000000000000000" pitchFamily="2" charset="0"/>
                <a:ea typeface="Roboto" panose="02000000000000000000" pitchFamily="2" charset="0"/>
                <a:sym typeface="Roboto Light"/>
              </a:rPr>
              <a:t>idx</a:t>
            </a:r>
            <a:r>
              <a:rPr lang="en-IN" sz="2000" i="0" u="none" strike="noStrike" dirty="0">
                <a:solidFill>
                  <a:schemeClr val="accent2">
                    <a:lumMod val="20000"/>
                    <a:lumOff val="80000"/>
                  </a:schemeClr>
                </a:solidFill>
                <a:effectLst/>
                <a:latin typeface="Roboto" panose="02000000000000000000" pitchFamily="2" charset="0"/>
                <a:ea typeface="Roboto" panose="02000000000000000000" pitchFamily="2" charset="0"/>
                <a:sym typeface="Roboto Light"/>
              </a:rPr>
              <a:t> 104681 (gene=Cx3cl1): 40 </a:t>
            </a:r>
            <a:r>
              <a:rPr lang="en-IN" sz="2000" i="0" u="none" strike="noStrike" dirty="0" err="1">
                <a:solidFill>
                  <a:schemeClr val="accent2">
                    <a:lumMod val="20000"/>
                    <a:lumOff val="80000"/>
                  </a:schemeClr>
                </a:solidFill>
                <a:effectLst/>
                <a:latin typeface="Roboto" panose="02000000000000000000" pitchFamily="2" charset="0"/>
                <a:ea typeface="Roboto" panose="02000000000000000000" pitchFamily="2" charset="0"/>
                <a:sym typeface="Roboto Light"/>
              </a:rPr>
              <a:t>neighbors</a:t>
            </a:r>
            <a:r>
              <a:rPr lang="en-IN" sz="2000" i="0" u="none" strike="noStrike" dirty="0">
                <a:solidFill>
                  <a:schemeClr val="accent2">
                    <a:lumMod val="20000"/>
                    <a:lumOff val="80000"/>
                  </a:schemeClr>
                </a:solidFill>
                <a:effectLst/>
                <a:latin typeface="Roboto" panose="02000000000000000000" pitchFamily="2" charset="0"/>
                <a:ea typeface="Roboto" panose="02000000000000000000" pitchFamily="2" charset="0"/>
                <a:sym typeface="Roboto Light"/>
              </a:rPr>
              <a:t>. </a:t>
            </a:r>
            <a:br>
              <a:rPr lang="en-IN" sz="2000" i="0" u="none" strike="noStrike" dirty="0">
                <a:solidFill>
                  <a:schemeClr val="accent2">
                    <a:lumMod val="20000"/>
                    <a:lumOff val="80000"/>
                  </a:schemeClr>
                </a:solidFill>
                <a:effectLst/>
                <a:latin typeface="Roboto" panose="02000000000000000000" pitchFamily="2" charset="0"/>
                <a:ea typeface="Roboto" panose="02000000000000000000" pitchFamily="2" charset="0"/>
                <a:sym typeface="Roboto Light"/>
              </a:rPr>
            </a:br>
            <a:r>
              <a:rPr lang="en-IN" sz="2000" i="0" u="none" strike="noStrike" dirty="0">
                <a:solidFill>
                  <a:schemeClr val="accent2">
                    <a:lumMod val="20000"/>
                    <a:lumOff val="80000"/>
                  </a:schemeClr>
                </a:solidFill>
                <a:effectLst/>
                <a:latin typeface="Roboto" panose="02000000000000000000" pitchFamily="2" charset="0"/>
                <a:ea typeface="Roboto" panose="02000000000000000000" pitchFamily="2" charset="0"/>
                <a:sym typeface="Roboto Light"/>
              </a:rPr>
              <a:t>Top nearby genes: [('Slc17a7', 10), ('Epha4', 4), ('Cx3cl1', 3), ('Celsr2', 2), ('Syt4', 2), ('Nrp2', 2)]</a:t>
            </a:r>
          </a:p>
          <a:p>
            <a:pPr marL="342900" indent="-342900">
              <a:buClr>
                <a:schemeClr val="bg1"/>
              </a:buClr>
              <a:buFont typeface="Arial" panose="020B0604020202020204" pitchFamily="34" charset="0"/>
              <a:buChar char="•"/>
            </a:pPr>
            <a:endParaRPr lang="en-IN" sz="2000" i="0" u="none" strike="noStrike" dirty="0">
              <a:solidFill>
                <a:schemeClr val="accent2">
                  <a:lumMod val="20000"/>
                  <a:lumOff val="80000"/>
                </a:schemeClr>
              </a:solidFill>
              <a:effectLst/>
              <a:latin typeface="Roboto" panose="02000000000000000000" pitchFamily="2" charset="0"/>
              <a:ea typeface="Roboto" panose="02000000000000000000" pitchFamily="2" charset="0"/>
              <a:sym typeface="Roboto Light"/>
            </a:endParaRPr>
          </a:p>
          <a:p>
            <a:pPr marL="342900" indent="-342900">
              <a:buClr>
                <a:schemeClr val="bg1"/>
              </a:buClr>
              <a:buFont typeface="Arial" panose="020B0604020202020204" pitchFamily="34" charset="0"/>
              <a:buChar char="•"/>
            </a:pPr>
            <a:r>
              <a:rPr lang="en-IN" sz="2000" i="0" u="none" strike="noStrike" dirty="0" err="1">
                <a:solidFill>
                  <a:schemeClr val="accent2">
                    <a:lumMod val="20000"/>
                    <a:lumOff val="80000"/>
                  </a:schemeClr>
                </a:solidFill>
                <a:effectLst/>
                <a:latin typeface="Roboto" panose="02000000000000000000" pitchFamily="2" charset="0"/>
                <a:ea typeface="Roboto" panose="02000000000000000000" pitchFamily="2" charset="0"/>
                <a:sym typeface="Roboto Light"/>
              </a:rPr>
              <a:t>Center</a:t>
            </a:r>
            <a:r>
              <a:rPr lang="en-IN" sz="2000" i="0" u="none" strike="noStrike" dirty="0">
                <a:solidFill>
                  <a:schemeClr val="accent2">
                    <a:lumMod val="20000"/>
                    <a:lumOff val="80000"/>
                  </a:schemeClr>
                </a:solidFill>
                <a:effectLst/>
                <a:latin typeface="Roboto" panose="02000000000000000000" pitchFamily="2" charset="0"/>
                <a:ea typeface="Roboto" panose="02000000000000000000" pitchFamily="2" charset="0"/>
                <a:sym typeface="Roboto Light"/>
              </a:rPr>
              <a:t> </a:t>
            </a:r>
            <a:r>
              <a:rPr lang="en-IN" sz="2000" i="0" u="none" strike="noStrike" dirty="0" err="1">
                <a:solidFill>
                  <a:schemeClr val="accent2">
                    <a:lumMod val="20000"/>
                    <a:lumOff val="80000"/>
                  </a:schemeClr>
                </a:solidFill>
                <a:effectLst/>
                <a:latin typeface="Roboto" panose="02000000000000000000" pitchFamily="2" charset="0"/>
                <a:ea typeface="Roboto" panose="02000000000000000000" pitchFamily="2" charset="0"/>
                <a:sym typeface="Roboto Light"/>
              </a:rPr>
              <a:t>idx</a:t>
            </a:r>
            <a:r>
              <a:rPr lang="en-IN" sz="2000" i="0" u="none" strike="noStrike" dirty="0">
                <a:solidFill>
                  <a:schemeClr val="accent2">
                    <a:lumMod val="20000"/>
                    <a:lumOff val="80000"/>
                  </a:schemeClr>
                </a:solidFill>
                <a:effectLst/>
                <a:latin typeface="Roboto" panose="02000000000000000000" pitchFamily="2" charset="0"/>
                <a:ea typeface="Roboto" panose="02000000000000000000" pitchFamily="2" charset="0"/>
                <a:sym typeface="Roboto Light"/>
              </a:rPr>
              <a:t> 129461 (gene=Epha7): 26 </a:t>
            </a:r>
            <a:r>
              <a:rPr lang="en-IN" sz="2000" i="0" u="none" strike="noStrike" dirty="0" err="1">
                <a:solidFill>
                  <a:schemeClr val="accent2">
                    <a:lumMod val="20000"/>
                    <a:lumOff val="80000"/>
                  </a:schemeClr>
                </a:solidFill>
                <a:effectLst/>
                <a:latin typeface="Roboto" panose="02000000000000000000" pitchFamily="2" charset="0"/>
                <a:ea typeface="Roboto" panose="02000000000000000000" pitchFamily="2" charset="0"/>
                <a:sym typeface="Roboto Light"/>
              </a:rPr>
              <a:t>neighbors</a:t>
            </a:r>
            <a:r>
              <a:rPr lang="en-IN" sz="2000" i="0" u="none" strike="noStrike" dirty="0">
                <a:solidFill>
                  <a:schemeClr val="accent2">
                    <a:lumMod val="20000"/>
                    <a:lumOff val="80000"/>
                  </a:schemeClr>
                </a:solidFill>
                <a:effectLst/>
                <a:latin typeface="Roboto" panose="02000000000000000000" pitchFamily="2" charset="0"/>
                <a:ea typeface="Roboto" panose="02000000000000000000" pitchFamily="2" charset="0"/>
                <a:sym typeface="Roboto Light"/>
              </a:rPr>
              <a:t>. </a:t>
            </a:r>
            <a:br>
              <a:rPr lang="en-IN" sz="2000" i="0" u="none" strike="noStrike" dirty="0">
                <a:solidFill>
                  <a:schemeClr val="accent2">
                    <a:lumMod val="20000"/>
                    <a:lumOff val="80000"/>
                  </a:schemeClr>
                </a:solidFill>
                <a:effectLst/>
                <a:latin typeface="Roboto" panose="02000000000000000000" pitchFamily="2" charset="0"/>
                <a:ea typeface="Roboto" panose="02000000000000000000" pitchFamily="2" charset="0"/>
                <a:sym typeface="Roboto Light"/>
              </a:rPr>
            </a:br>
            <a:r>
              <a:rPr lang="en-IN" sz="2000" i="0" u="none" strike="noStrike" dirty="0">
                <a:solidFill>
                  <a:schemeClr val="accent2">
                    <a:lumMod val="20000"/>
                    <a:lumOff val="80000"/>
                  </a:schemeClr>
                </a:solidFill>
                <a:effectLst/>
                <a:latin typeface="Roboto" panose="02000000000000000000" pitchFamily="2" charset="0"/>
                <a:ea typeface="Roboto" panose="02000000000000000000" pitchFamily="2" charset="0"/>
                <a:sym typeface="Roboto Light"/>
              </a:rPr>
              <a:t>Top nearby genes: [('Slc17a7', 6), ('Celsr2', 2), ('Grin2b', 2), ('Chrm1', 2), ('Epha4', 2), ('Adgrl3', 1)]</a:t>
            </a:r>
          </a:p>
          <a:p>
            <a:pPr marL="342900" indent="-342900">
              <a:buClr>
                <a:schemeClr val="bg1"/>
              </a:buClr>
              <a:buFont typeface="Arial" panose="020B0604020202020204" pitchFamily="34" charset="0"/>
              <a:buChar char="•"/>
            </a:pPr>
            <a:endParaRPr lang="en-IN" sz="2000" i="0" u="none" strike="noStrike" dirty="0">
              <a:solidFill>
                <a:schemeClr val="accent2">
                  <a:lumMod val="20000"/>
                  <a:lumOff val="80000"/>
                </a:schemeClr>
              </a:solidFill>
              <a:effectLst/>
              <a:latin typeface="Roboto" panose="02000000000000000000" pitchFamily="2" charset="0"/>
              <a:ea typeface="Roboto" panose="02000000000000000000" pitchFamily="2" charset="0"/>
              <a:sym typeface="Roboto Light"/>
            </a:endParaRPr>
          </a:p>
          <a:p>
            <a:pPr marL="342900" indent="-342900">
              <a:buClr>
                <a:schemeClr val="bg1"/>
              </a:buClr>
              <a:buFont typeface="Arial" panose="020B0604020202020204" pitchFamily="34" charset="0"/>
              <a:buChar char="•"/>
            </a:pPr>
            <a:r>
              <a:rPr lang="en-IN" sz="2000" i="0" u="none" strike="noStrike" dirty="0" err="1">
                <a:solidFill>
                  <a:schemeClr val="accent2">
                    <a:lumMod val="20000"/>
                    <a:lumOff val="80000"/>
                  </a:schemeClr>
                </a:solidFill>
                <a:effectLst/>
                <a:latin typeface="Roboto" panose="02000000000000000000" pitchFamily="2" charset="0"/>
                <a:ea typeface="Roboto" panose="02000000000000000000" pitchFamily="2" charset="0"/>
                <a:sym typeface="Roboto Light"/>
              </a:rPr>
              <a:t>Center</a:t>
            </a:r>
            <a:r>
              <a:rPr lang="en-IN" sz="2000" i="0" u="none" strike="noStrike" dirty="0">
                <a:solidFill>
                  <a:schemeClr val="accent2">
                    <a:lumMod val="20000"/>
                    <a:lumOff val="80000"/>
                  </a:schemeClr>
                </a:solidFill>
                <a:effectLst/>
                <a:latin typeface="Roboto" panose="02000000000000000000" pitchFamily="2" charset="0"/>
                <a:ea typeface="Roboto" panose="02000000000000000000" pitchFamily="2" charset="0"/>
                <a:sym typeface="Roboto Light"/>
              </a:rPr>
              <a:t> </a:t>
            </a:r>
            <a:r>
              <a:rPr lang="en-IN" sz="2000" i="0" u="none" strike="noStrike" dirty="0" err="1">
                <a:solidFill>
                  <a:schemeClr val="accent2">
                    <a:lumMod val="20000"/>
                    <a:lumOff val="80000"/>
                  </a:schemeClr>
                </a:solidFill>
                <a:effectLst/>
                <a:latin typeface="Roboto" panose="02000000000000000000" pitchFamily="2" charset="0"/>
                <a:ea typeface="Roboto" panose="02000000000000000000" pitchFamily="2" charset="0"/>
                <a:sym typeface="Roboto Light"/>
              </a:rPr>
              <a:t>idx</a:t>
            </a:r>
            <a:r>
              <a:rPr lang="en-IN" sz="2000" i="0" u="none" strike="noStrike" dirty="0">
                <a:solidFill>
                  <a:schemeClr val="accent2">
                    <a:lumMod val="20000"/>
                    <a:lumOff val="80000"/>
                  </a:schemeClr>
                </a:solidFill>
                <a:effectLst/>
                <a:latin typeface="Roboto" panose="02000000000000000000" pitchFamily="2" charset="0"/>
                <a:ea typeface="Roboto" panose="02000000000000000000" pitchFamily="2" charset="0"/>
                <a:sym typeface="Roboto Light"/>
              </a:rPr>
              <a:t> 126313 (gene=Epha6): </a:t>
            </a:r>
            <a:r>
              <a:rPr lang="en-IN" sz="2000" b="1" i="0" u="none" strike="noStrike" dirty="0">
                <a:solidFill>
                  <a:schemeClr val="accent2">
                    <a:lumMod val="20000"/>
                    <a:lumOff val="80000"/>
                  </a:schemeClr>
                </a:solidFill>
                <a:effectLst/>
                <a:latin typeface="Roboto" panose="02000000000000000000" pitchFamily="2" charset="0"/>
                <a:ea typeface="Roboto" panose="02000000000000000000" pitchFamily="2" charset="0"/>
                <a:sym typeface="Roboto Light"/>
              </a:rPr>
              <a:t>12 </a:t>
            </a:r>
            <a:r>
              <a:rPr lang="en-IN" sz="2000" b="1" i="0" u="none" strike="noStrike" dirty="0" err="1">
                <a:solidFill>
                  <a:schemeClr val="accent2">
                    <a:lumMod val="20000"/>
                    <a:lumOff val="80000"/>
                  </a:schemeClr>
                </a:solidFill>
                <a:effectLst/>
                <a:latin typeface="Roboto" panose="02000000000000000000" pitchFamily="2" charset="0"/>
                <a:ea typeface="Roboto" panose="02000000000000000000" pitchFamily="2" charset="0"/>
                <a:sym typeface="Roboto Light"/>
              </a:rPr>
              <a:t>neighbors</a:t>
            </a:r>
            <a:r>
              <a:rPr lang="en-IN" sz="2000" i="0" u="none" strike="noStrike" dirty="0">
                <a:solidFill>
                  <a:schemeClr val="accent2">
                    <a:lumMod val="20000"/>
                    <a:lumOff val="80000"/>
                  </a:schemeClr>
                </a:solidFill>
                <a:effectLst/>
                <a:latin typeface="Roboto" panose="02000000000000000000" pitchFamily="2" charset="0"/>
                <a:ea typeface="Roboto" panose="02000000000000000000" pitchFamily="2" charset="0"/>
                <a:sym typeface="Roboto Light"/>
              </a:rPr>
              <a:t>. </a:t>
            </a:r>
            <a:br>
              <a:rPr lang="en-IN" sz="2000" i="0" u="none" strike="noStrike" dirty="0">
                <a:solidFill>
                  <a:schemeClr val="accent2">
                    <a:lumMod val="20000"/>
                    <a:lumOff val="80000"/>
                  </a:schemeClr>
                </a:solidFill>
                <a:effectLst/>
                <a:latin typeface="Roboto" panose="02000000000000000000" pitchFamily="2" charset="0"/>
                <a:ea typeface="Roboto" panose="02000000000000000000" pitchFamily="2" charset="0"/>
                <a:sym typeface="Roboto Light"/>
              </a:rPr>
            </a:br>
            <a:r>
              <a:rPr lang="en-IN" sz="2000" i="0" u="none" strike="noStrike" dirty="0">
                <a:solidFill>
                  <a:schemeClr val="accent2">
                    <a:lumMod val="20000"/>
                    <a:lumOff val="80000"/>
                  </a:schemeClr>
                </a:solidFill>
                <a:effectLst/>
                <a:latin typeface="Roboto" panose="02000000000000000000" pitchFamily="2" charset="0"/>
                <a:ea typeface="Roboto" panose="02000000000000000000" pitchFamily="2" charset="0"/>
                <a:sym typeface="Roboto Light"/>
              </a:rPr>
              <a:t>Top nearby genes: [('Ntrk2', 2), ('Abcc9', 2), ('Slc17a7', 2), ('Axl', 1), ('Htr6', 1), ('Cspg5', 1)]  </a:t>
            </a:r>
            <a:endParaRPr lang="en-IN" sz="2000" dirty="0">
              <a:solidFill>
                <a:schemeClr val="bg1"/>
              </a:solidFill>
              <a:latin typeface="Roboto" panose="02000000000000000000" pitchFamily="2" charset="0"/>
              <a:ea typeface="Roboto" panose="02000000000000000000" pitchFamily="2" charset="0"/>
              <a:cs typeface="Roboto Light"/>
              <a:sym typeface="Roboto Light"/>
            </a:endParaRPr>
          </a:p>
        </p:txBody>
      </p:sp>
    </p:spTree>
    <p:extLst>
      <p:ext uri="{BB962C8B-B14F-4D97-AF65-F5344CB8AC3E}">
        <p14:creationId xmlns:p14="http://schemas.microsoft.com/office/powerpoint/2010/main" val="86213569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00">
          <a:extLst>
            <a:ext uri="{FF2B5EF4-FFF2-40B4-BE49-F238E27FC236}">
              <a16:creationId xmlns:a16="http://schemas.microsoft.com/office/drawing/2014/main" id="{5D595386-87D9-2F61-7B41-20B589C56901}"/>
            </a:ext>
          </a:extLst>
        </p:cNvPr>
        <p:cNvGrpSpPr/>
        <p:nvPr/>
      </p:nvGrpSpPr>
      <p:grpSpPr>
        <a:xfrm>
          <a:off x="0" y="0"/>
          <a:ext cx="0" cy="0"/>
          <a:chOff x="0" y="0"/>
          <a:chExt cx="0" cy="0"/>
        </a:xfrm>
      </p:grpSpPr>
      <p:sp>
        <p:nvSpPr>
          <p:cNvPr id="101" name="Google Shape;101;p2">
            <a:extLst>
              <a:ext uri="{FF2B5EF4-FFF2-40B4-BE49-F238E27FC236}">
                <a16:creationId xmlns:a16="http://schemas.microsoft.com/office/drawing/2014/main" id="{931AAA17-1FAD-D836-F2AA-05465A2BE340}"/>
              </a:ext>
            </a:extLst>
          </p:cNvPr>
          <p:cNvSpPr/>
          <p:nvPr/>
        </p:nvSpPr>
        <p:spPr>
          <a:xfrm rot="2687220">
            <a:off x="-880866" y="-3237709"/>
            <a:ext cx="13947867" cy="9884465"/>
          </a:xfrm>
          <a:custGeom>
            <a:avLst/>
            <a:gdLst/>
            <a:ahLst/>
            <a:cxnLst/>
            <a:rect l="l" t="t" r="r" b="b"/>
            <a:pathLst>
              <a:path w="9777014" h="8127143" extrusionOk="0">
                <a:moveTo>
                  <a:pt x="0" y="0"/>
                </a:moveTo>
                <a:lnTo>
                  <a:pt x="9777013" y="0"/>
                </a:lnTo>
                <a:lnTo>
                  <a:pt x="9777013" y="8127142"/>
                </a:lnTo>
                <a:lnTo>
                  <a:pt x="0" y="8127142"/>
                </a:lnTo>
                <a:lnTo>
                  <a:pt x="0" y="0"/>
                </a:lnTo>
                <a:close/>
              </a:path>
            </a:pathLst>
          </a:custGeom>
          <a:blipFill rotWithShape="1">
            <a:blip r:embed="rId3">
              <a:alphaModFix amt="20000"/>
            </a:blip>
            <a:stretch>
              <a:fillRect/>
            </a:stretch>
          </a:blipFill>
          <a:ln>
            <a:noFill/>
          </a:ln>
          <a:effectLst>
            <a:outerShdw blurRad="50800" dist="50800" dir="5400000" algn="ctr" rotWithShape="0">
              <a:srgbClr val="000000"/>
            </a:outerShdw>
          </a:effectLst>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102" name="Google Shape;102;p2">
            <a:extLst>
              <a:ext uri="{FF2B5EF4-FFF2-40B4-BE49-F238E27FC236}">
                <a16:creationId xmlns:a16="http://schemas.microsoft.com/office/drawing/2014/main" id="{B2D5D456-4447-3C3C-92E5-695BC1A228C1}"/>
              </a:ext>
            </a:extLst>
          </p:cNvPr>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IN"/>
              <a:t>15</a:t>
            </a:fld>
            <a:endParaRPr/>
          </a:p>
        </p:txBody>
      </p:sp>
      <p:sp>
        <p:nvSpPr>
          <p:cNvPr id="4" name="TextBox 3">
            <a:extLst>
              <a:ext uri="{FF2B5EF4-FFF2-40B4-BE49-F238E27FC236}">
                <a16:creationId xmlns:a16="http://schemas.microsoft.com/office/drawing/2014/main" id="{68A82FD3-9941-7544-6491-12F7E297F3C7}"/>
              </a:ext>
            </a:extLst>
          </p:cNvPr>
          <p:cNvSpPr txBox="1"/>
          <p:nvPr/>
        </p:nvSpPr>
        <p:spPr>
          <a:xfrm>
            <a:off x="494907" y="843677"/>
            <a:ext cx="11196320" cy="3939540"/>
          </a:xfrm>
          <a:prstGeom prst="rect">
            <a:avLst/>
          </a:prstGeom>
          <a:noFill/>
        </p:spPr>
        <p:txBody>
          <a:bodyPr wrap="square">
            <a:spAutoFit/>
          </a:bodyPr>
          <a:lstStyle/>
          <a:p>
            <a:r>
              <a:rPr lang="en-IN" sz="2500" b="1" dirty="0">
                <a:solidFill>
                  <a:schemeClr val="accent2">
                    <a:lumMod val="20000"/>
                    <a:lumOff val="80000"/>
                  </a:schemeClr>
                </a:solidFill>
                <a:latin typeface="Roboto" panose="02000000000000000000" pitchFamily="2" charset="0"/>
                <a:ea typeface="Roboto" panose="02000000000000000000" pitchFamily="2" charset="0"/>
                <a:cs typeface="Roboto Light"/>
                <a:sym typeface="Roboto Light"/>
              </a:rPr>
              <a:t>Analogy</a:t>
            </a:r>
          </a:p>
          <a:p>
            <a:endParaRPr lang="en-IN" sz="2500" b="1" dirty="0">
              <a:solidFill>
                <a:schemeClr val="bg1"/>
              </a:solidFill>
              <a:latin typeface="Roboto" panose="02000000000000000000" pitchFamily="2" charset="0"/>
              <a:ea typeface="Roboto" panose="02000000000000000000" pitchFamily="2" charset="0"/>
              <a:cs typeface="Roboto Light"/>
              <a:sym typeface="Roboto Light"/>
            </a:endParaRPr>
          </a:p>
          <a:p>
            <a:pPr marL="342900" indent="-342900" rtl="0" fontAlgn="ctr">
              <a:buClr>
                <a:schemeClr val="bg1"/>
              </a:buClr>
              <a:buFont typeface="Arial" panose="020B0604020202020204" pitchFamily="34" charset="0"/>
              <a:buChar char="•"/>
            </a:pPr>
            <a:r>
              <a:rPr lang="en-IN" sz="2000" dirty="0">
                <a:solidFill>
                  <a:schemeClr val="bg1"/>
                </a:solidFill>
                <a:effectLst/>
                <a:latin typeface="Calibri" panose="020F0502020204030204" pitchFamily="34" charset="0"/>
              </a:rPr>
              <a:t>The MERFISH output = a long list of dot coordinates plus a gene label for each dot.</a:t>
            </a:r>
          </a:p>
          <a:p>
            <a:pPr marL="342900" indent="-342900" rtl="0" fontAlgn="ctr">
              <a:buClr>
                <a:schemeClr val="bg1"/>
              </a:buClr>
              <a:buFont typeface="Arial" panose="020B0604020202020204" pitchFamily="34" charset="0"/>
              <a:buChar char="•"/>
            </a:pPr>
            <a:endParaRPr lang="en-IN" sz="2000" dirty="0">
              <a:solidFill>
                <a:schemeClr val="bg1"/>
              </a:solidFill>
              <a:effectLst/>
              <a:latin typeface="Calibri" panose="020F0502020204030204" pitchFamily="34" charset="0"/>
            </a:endParaRPr>
          </a:p>
          <a:p>
            <a:pPr marL="342900" indent="-342900" rtl="0" fontAlgn="ctr">
              <a:buClr>
                <a:schemeClr val="bg1"/>
              </a:buClr>
              <a:buFont typeface="Arial" panose="020B0604020202020204" pitchFamily="34" charset="0"/>
              <a:buChar char="•"/>
            </a:pPr>
            <a:r>
              <a:rPr lang="en-IN" sz="2000" dirty="0">
                <a:solidFill>
                  <a:schemeClr val="bg1"/>
                </a:solidFill>
                <a:effectLst/>
                <a:latin typeface="Calibri" panose="020F0502020204030204" pitchFamily="34" charset="0"/>
              </a:rPr>
              <a:t>A radius neighbourhood around a dot is like drawing a small circle in microns around that dot and asking: which other labelled dots fall inside this circle? That list of neighbours is the local micro-environment for that transcript.</a:t>
            </a:r>
          </a:p>
          <a:p>
            <a:pPr marL="342900" indent="-342900" rtl="0" fontAlgn="ctr">
              <a:buClr>
                <a:schemeClr val="bg1"/>
              </a:buClr>
              <a:buFont typeface="Arial" panose="020B0604020202020204" pitchFamily="34" charset="0"/>
              <a:buChar char="•"/>
            </a:pPr>
            <a:endParaRPr lang="en-IN" sz="2000" dirty="0">
              <a:solidFill>
                <a:schemeClr val="bg1"/>
              </a:solidFill>
              <a:effectLst/>
              <a:latin typeface="Calibri" panose="020F0502020204030204" pitchFamily="34" charset="0"/>
            </a:endParaRPr>
          </a:p>
          <a:p>
            <a:pPr marL="342900" indent="-342900" rtl="0" fontAlgn="ctr">
              <a:buClr>
                <a:schemeClr val="bg1"/>
              </a:buClr>
              <a:buFont typeface="Arial" panose="020B0604020202020204" pitchFamily="34" charset="0"/>
              <a:buChar char="•"/>
            </a:pPr>
            <a:r>
              <a:rPr lang="en-IN" sz="2000" dirty="0">
                <a:solidFill>
                  <a:schemeClr val="bg1"/>
                </a:solidFill>
                <a:effectLst/>
                <a:latin typeface="Calibri" panose="020F0502020204030204" pitchFamily="34" charset="0"/>
              </a:rPr>
              <a:t>Why Radius Neighbour grouping? Because many RNAs that share function, transport mechanisms, or binding proteins tend to be physically near each other. If you can learn which sequence features predict “who shows up nearby”, you have candidate zip codes.</a:t>
            </a:r>
          </a:p>
          <a:p>
            <a:pPr marL="342900" indent="-342900" rtl="0" fontAlgn="ctr">
              <a:buClr>
                <a:schemeClr val="bg1"/>
              </a:buClr>
              <a:buFont typeface="Arial" panose="020B0604020202020204" pitchFamily="34" charset="0"/>
              <a:buChar char="•"/>
            </a:pPr>
            <a:endParaRPr lang="en-IN" sz="2000" dirty="0">
              <a:solidFill>
                <a:schemeClr val="bg1"/>
              </a:solidFill>
              <a:effectLst/>
              <a:latin typeface="Calibri" panose="020F0502020204030204" pitchFamily="34" charset="0"/>
            </a:endParaRPr>
          </a:p>
        </p:txBody>
      </p:sp>
    </p:spTree>
    <p:extLst>
      <p:ext uri="{BB962C8B-B14F-4D97-AF65-F5344CB8AC3E}">
        <p14:creationId xmlns:p14="http://schemas.microsoft.com/office/powerpoint/2010/main" val="177246380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00">
          <a:extLst>
            <a:ext uri="{FF2B5EF4-FFF2-40B4-BE49-F238E27FC236}">
              <a16:creationId xmlns:a16="http://schemas.microsoft.com/office/drawing/2014/main" id="{9FAA3F6E-2084-B693-D524-CF969D013066}"/>
            </a:ext>
          </a:extLst>
        </p:cNvPr>
        <p:cNvGrpSpPr/>
        <p:nvPr/>
      </p:nvGrpSpPr>
      <p:grpSpPr>
        <a:xfrm>
          <a:off x="0" y="0"/>
          <a:ext cx="0" cy="0"/>
          <a:chOff x="0" y="0"/>
          <a:chExt cx="0" cy="0"/>
        </a:xfrm>
      </p:grpSpPr>
      <p:sp>
        <p:nvSpPr>
          <p:cNvPr id="101" name="Google Shape;101;p2">
            <a:extLst>
              <a:ext uri="{FF2B5EF4-FFF2-40B4-BE49-F238E27FC236}">
                <a16:creationId xmlns:a16="http://schemas.microsoft.com/office/drawing/2014/main" id="{5E08C86F-A753-A084-348F-A09F64BADD85}"/>
              </a:ext>
            </a:extLst>
          </p:cNvPr>
          <p:cNvSpPr/>
          <p:nvPr/>
        </p:nvSpPr>
        <p:spPr>
          <a:xfrm rot="2687220">
            <a:off x="-880866" y="-3237709"/>
            <a:ext cx="13947867" cy="9884465"/>
          </a:xfrm>
          <a:custGeom>
            <a:avLst/>
            <a:gdLst/>
            <a:ahLst/>
            <a:cxnLst/>
            <a:rect l="l" t="t" r="r" b="b"/>
            <a:pathLst>
              <a:path w="9777014" h="8127143" extrusionOk="0">
                <a:moveTo>
                  <a:pt x="0" y="0"/>
                </a:moveTo>
                <a:lnTo>
                  <a:pt x="9777013" y="0"/>
                </a:lnTo>
                <a:lnTo>
                  <a:pt x="9777013" y="8127142"/>
                </a:lnTo>
                <a:lnTo>
                  <a:pt x="0" y="8127142"/>
                </a:lnTo>
                <a:lnTo>
                  <a:pt x="0" y="0"/>
                </a:lnTo>
                <a:close/>
              </a:path>
            </a:pathLst>
          </a:custGeom>
          <a:blipFill rotWithShape="1">
            <a:blip r:embed="rId3">
              <a:alphaModFix amt="20000"/>
            </a:blip>
            <a:stretch>
              <a:fillRect/>
            </a:stretch>
          </a:blipFill>
          <a:ln>
            <a:noFill/>
          </a:ln>
          <a:effectLst>
            <a:outerShdw blurRad="50800" dist="50800" dir="5400000" algn="ctr" rotWithShape="0">
              <a:srgbClr val="000000"/>
            </a:outerShdw>
          </a:effectLst>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102" name="Google Shape;102;p2">
            <a:extLst>
              <a:ext uri="{FF2B5EF4-FFF2-40B4-BE49-F238E27FC236}">
                <a16:creationId xmlns:a16="http://schemas.microsoft.com/office/drawing/2014/main" id="{D29B4E67-8B0D-9BBB-20FC-EF60CB7FDF4A}"/>
              </a:ext>
            </a:extLst>
          </p:cNvPr>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IN"/>
              <a:t>16</a:t>
            </a:fld>
            <a:endParaRPr/>
          </a:p>
        </p:txBody>
      </p:sp>
      <p:sp>
        <p:nvSpPr>
          <p:cNvPr id="4" name="TextBox 3">
            <a:extLst>
              <a:ext uri="{FF2B5EF4-FFF2-40B4-BE49-F238E27FC236}">
                <a16:creationId xmlns:a16="http://schemas.microsoft.com/office/drawing/2014/main" id="{CAA77A84-304E-867A-E4F6-A3E4CB65A244}"/>
              </a:ext>
            </a:extLst>
          </p:cNvPr>
          <p:cNvSpPr txBox="1"/>
          <p:nvPr/>
        </p:nvSpPr>
        <p:spPr>
          <a:xfrm>
            <a:off x="494907" y="843677"/>
            <a:ext cx="11196320" cy="3631763"/>
          </a:xfrm>
          <a:prstGeom prst="rect">
            <a:avLst/>
          </a:prstGeom>
          <a:noFill/>
        </p:spPr>
        <p:txBody>
          <a:bodyPr wrap="square">
            <a:spAutoFit/>
          </a:bodyPr>
          <a:lstStyle/>
          <a:p>
            <a:r>
              <a:rPr lang="en-IN" sz="2500" b="1" dirty="0">
                <a:solidFill>
                  <a:schemeClr val="accent2">
                    <a:lumMod val="20000"/>
                    <a:lumOff val="80000"/>
                  </a:schemeClr>
                </a:solidFill>
                <a:latin typeface="Roboto" panose="02000000000000000000" pitchFamily="2" charset="0"/>
                <a:ea typeface="Roboto" panose="02000000000000000000" pitchFamily="2" charset="0"/>
                <a:cs typeface="Roboto Light"/>
                <a:sym typeface="Roboto Light"/>
              </a:rPr>
              <a:t>Analogy</a:t>
            </a:r>
          </a:p>
          <a:p>
            <a:endParaRPr lang="en-IN" sz="2500" b="1" dirty="0">
              <a:solidFill>
                <a:schemeClr val="bg1"/>
              </a:solidFill>
              <a:latin typeface="Roboto" panose="02000000000000000000" pitchFamily="2" charset="0"/>
              <a:ea typeface="Roboto" panose="02000000000000000000" pitchFamily="2" charset="0"/>
              <a:cs typeface="Roboto Light"/>
              <a:sym typeface="Roboto Light"/>
            </a:endParaRPr>
          </a:p>
          <a:p>
            <a:pPr rtl="0" fontAlgn="ctr">
              <a:buClr>
                <a:schemeClr val="bg1"/>
              </a:buClr>
            </a:pPr>
            <a:r>
              <a:rPr lang="en-IN" sz="2000" dirty="0">
                <a:solidFill>
                  <a:schemeClr val="bg1"/>
                </a:solidFill>
                <a:effectLst/>
                <a:latin typeface="Calibri" panose="020F0502020204030204" pitchFamily="34" charset="0"/>
              </a:rPr>
              <a:t>After finding all the Neighbours and their centres, ensemble them in </a:t>
            </a:r>
            <a:r>
              <a:rPr lang="en-IN" sz="2000" b="1" i="1" dirty="0">
                <a:solidFill>
                  <a:schemeClr val="bg1"/>
                </a:solidFill>
                <a:effectLst/>
                <a:latin typeface="Calibri" panose="020F0502020204030204" pitchFamily="34" charset="0"/>
              </a:rPr>
              <a:t>Transformer</a:t>
            </a:r>
          </a:p>
          <a:p>
            <a:pPr rtl="0" fontAlgn="ctr">
              <a:buClr>
                <a:schemeClr val="bg1"/>
              </a:buClr>
            </a:pPr>
            <a:endParaRPr lang="en-IN" sz="2000" dirty="0">
              <a:solidFill>
                <a:schemeClr val="bg1"/>
              </a:solidFill>
              <a:effectLst/>
              <a:latin typeface="Calibri" panose="020F0502020204030204" pitchFamily="34" charset="0"/>
            </a:endParaRPr>
          </a:p>
          <a:p>
            <a:pPr marL="285750" indent="-285750" rtl="0" fontAlgn="ctr">
              <a:buClr>
                <a:schemeClr val="bg1"/>
              </a:buClr>
              <a:buFont typeface="Arial" panose="020B0604020202020204" pitchFamily="34" charset="0"/>
              <a:buChar char="•"/>
            </a:pPr>
            <a:r>
              <a:rPr lang="en-IN" sz="2000" i="1" dirty="0">
                <a:solidFill>
                  <a:schemeClr val="bg1"/>
                </a:solidFill>
                <a:effectLst/>
                <a:latin typeface="Calibri" panose="020F0502020204030204" pitchFamily="34" charset="0"/>
              </a:rPr>
              <a:t>Mechanistic goal: find sequence features (zip codes, motifs) that predict </a:t>
            </a:r>
            <a:r>
              <a:rPr lang="en-IN" sz="2000" i="1" dirty="0" err="1">
                <a:solidFill>
                  <a:schemeClr val="bg1"/>
                </a:solidFill>
                <a:effectLst/>
                <a:latin typeface="Calibri" panose="020F0502020204030204" pitchFamily="34" charset="0"/>
              </a:rPr>
              <a:t>neighborhood</a:t>
            </a:r>
            <a:r>
              <a:rPr lang="en-IN" sz="2000" i="1" dirty="0">
                <a:solidFill>
                  <a:schemeClr val="bg1"/>
                </a:solidFill>
                <a:effectLst/>
                <a:latin typeface="Calibri" panose="020F0502020204030204" pitchFamily="34" charset="0"/>
              </a:rPr>
              <a:t> composition.</a:t>
            </a:r>
            <a:endParaRPr lang="en-IN" sz="2000" dirty="0">
              <a:solidFill>
                <a:schemeClr val="bg1"/>
              </a:solidFill>
              <a:effectLst/>
              <a:latin typeface="Calibri" panose="020F0502020204030204" pitchFamily="34" charset="0"/>
            </a:endParaRPr>
          </a:p>
          <a:p>
            <a:pPr marL="285750" indent="-285750" rtl="0" fontAlgn="ctr">
              <a:buClr>
                <a:schemeClr val="bg1"/>
              </a:buClr>
              <a:buFont typeface="Arial" panose="020B0604020202020204" pitchFamily="34" charset="0"/>
              <a:buChar char="•"/>
            </a:pPr>
            <a:r>
              <a:rPr lang="en-IN" sz="2000" i="1" dirty="0">
                <a:solidFill>
                  <a:schemeClr val="bg1"/>
                </a:solidFill>
                <a:effectLst/>
                <a:latin typeface="Calibri" panose="020F0502020204030204" pitchFamily="34" charset="0"/>
              </a:rPr>
              <a:t>Supervised formulation: each transcript provides one training example:</a:t>
            </a:r>
            <a:endParaRPr lang="en-IN" sz="2000" dirty="0">
              <a:solidFill>
                <a:schemeClr val="bg1"/>
              </a:solidFill>
              <a:effectLst/>
              <a:latin typeface="Calibri" panose="020F0502020204030204" pitchFamily="34" charset="0"/>
            </a:endParaRPr>
          </a:p>
          <a:p>
            <a:pPr marL="742950" lvl="1" indent="-285750" rtl="0" fontAlgn="ctr">
              <a:buClr>
                <a:schemeClr val="bg1"/>
              </a:buClr>
              <a:buFont typeface="Arial" panose="020B0604020202020204" pitchFamily="34" charset="0"/>
              <a:buChar char="•"/>
            </a:pPr>
            <a:r>
              <a:rPr lang="en-IN" sz="2000" i="1" dirty="0">
                <a:solidFill>
                  <a:schemeClr val="bg1"/>
                </a:solidFill>
                <a:effectLst/>
                <a:latin typeface="Calibri" panose="020F0502020204030204" pitchFamily="34" charset="0"/>
              </a:rPr>
              <a:t>Input X = nucleotide sequence (or a region like the 3′UTR) from a reference (GENCODE).</a:t>
            </a:r>
            <a:endParaRPr lang="en-IN" sz="2000" dirty="0">
              <a:solidFill>
                <a:schemeClr val="bg1"/>
              </a:solidFill>
              <a:effectLst/>
              <a:latin typeface="Calibri" panose="020F0502020204030204" pitchFamily="34" charset="0"/>
            </a:endParaRPr>
          </a:p>
          <a:p>
            <a:pPr marL="742950" lvl="1" indent="-285750" rtl="0" fontAlgn="ctr">
              <a:buClr>
                <a:schemeClr val="bg1"/>
              </a:buClr>
              <a:buFont typeface="Arial" panose="020B0604020202020204" pitchFamily="34" charset="0"/>
              <a:buChar char="•"/>
            </a:pPr>
            <a:r>
              <a:rPr lang="en-IN" sz="2000" i="1" dirty="0">
                <a:solidFill>
                  <a:schemeClr val="bg1"/>
                </a:solidFill>
                <a:effectLst/>
                <a:latin typeface="Calibri" panose="020F0502020204030204" pitchFamily="34" charset="0"/>
              </a:rPr>
              <a:t>Target Y = the observed </a:t>
            </a:r>
            <a:r>
              <a:rPr lang="en-IN" sz="2000" i="1" dirty="0" err="1">
                <a:solidFill>
                  <a:schemeClr val="bg1"/>
                </a:solidFill>
                <a:effectLst/>
                <a:latin typeface="Calibri" panose="020F0502020204030204" pitchFamily="34" charset="0"/>
              </a:rPr>
              <a:t>neighborhood</a:t>
            </a:r>
            <a:r>
              <a:rPr lang="en-IN" sz="2000" i="1" dirty="0">
                <a:solidFill>
                  <a:schemeClr val="bg1"/>
                </a:solidFill>
                <a:effectLst/>
                <a:latin typeface="Calibri" panose="020F0502020204030204" pitchFamily="34" charset="0"/>
              </a:rPr>
              <a:t> composition (e.g., fraction of </a:t>
            </a:r>
            <a:r>
              <a:rPr lang="en-IN" sz="2000" i="1" dirty="0" err="1">
                <a:solidFill>
                  <a:schemeClr val="bg1"/>
                </a:solidFill>
                <a:effectLst/>
                <a:latin typeface="Calibri" panose="020F0502020204030204" pitchFamily="34" charset="0"/>
              </a:rPr>
              <a:t>neighbors</a:t>
            </a:r>
            <a:r>
              <a:rPr lang="en-IN" sz="2000" i="1" dirty="0">
                <a:solidFill>
                  <a:schemeClr val="bg1"/>
                </a:solidFill>
                <a:effectLst/>
                <a:latin typeface="Calibri" panose="020F0502020204030204" pitchFamily="34" charset="0"/>
              </a:rPr>
              <a:t> that are gene A, gene B, ... within radius R).</a:t>
            </a:r>
            <a:endParaRPr lang="en-IN" sz="2000" dirty="0">
              <a:solidFill>
                <a:schemeClr val="bg1"/>
              </a:solidFill>
              <a:effectLst/>
              <a:latin typeface="Calibri" panose="020F0502020204030204" pitchFamily="34" charset="0"/>
            </a:endParaRPr>
          </a:p>
          <a:p>
            <a:pPr marL="285750" indent="-285750" rtl="0" fontAlgn="ctr">
              <a:buClr>
                <a:schemeClr val="bg1"/>
              </a:buClr>
              <a:buFont typeface="Arial" panose="020B0604020202020204" pitchFamily="34" charset="0"/>
              <a:buChar char="•"/>
            </a:pPr>
            <a:r>
              <a:rPr lang="en-IN" sz="2000" i="1" dirty="0">
                <a:solidFill>
                  <a:schemeClr val="bg1"/>
                </a:solidFill>
                <a:effectLst/>
                <a:latin typeface="Calibri" panose="020F0502020204030204" pitchFamily="34" charset="0"/>
              </a:rPr>
              <a:t>The transformer learns mapping X → Y across many examples. If learned patterns align with known RBPs or motifs, we have candidate causal signals.</a:t>
            </a:r>
            <a:endParaRPr lang="en-IN" sz="2000" dirty="0">
              <a:solidFill>
                <a:schemeClr val="bg1"/>
              </a:solidFill>
              <a:effectLst/>
              <a:latin typeface="Calibri" panose="020F0502020204030204" pitchFamily="34" charset="0"/>
            </a:endParaRPr>
          </a:p>
        </p:txBody>
      </p:sp>
    </p:spTree>
    <p:extLst>
      <p:ext uri="{BB962C8B-B14F-4D97-AF65-F5344CB8AC3E}">
        <p14:creationId xmlns:p14="http://schemas.microsoft.com/office/powerpoint/2010/main" val="252674545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00">
          <a:extLst>
            <a:ext uri="{FF2B5EF4-FFF2-40B4-BE49-F238E27FC236}">
              <a16:creationId xmlns:a16="http://schemas.microsoft.com/office/drawing/2014/main" id="{7E319919-EDA2-0A52-273B-FD64B4980262}"/>
            </a:ext>
          </a:extLst>
        </p:cNvPr>
        <p:cNvGrpSpPr/>
        <p:nvPr/>
      </p:nvGrpSpPr>
      <p:grpSpPr>
        <a:xfrm>
          <a:off x="0" y="0"/>
          <a:ext cx="0" cy="0"/>
          <a:chOff x="0" y="0"/>
          <a:chExt cx="0" cy="0"/>
        </a:xfrm>
      </p:grpSpPr>
      <p:sp>
        <p:nvSpPr>
          <p:cNvPr id="101" name="Google Shape;101;p2">
            <a:extLst>
              <a:ext uri="{FF2B5EF4-FFF2-40B4-BE49-F238E27FC236}">
                <a16:creationId xmlns:a16="http://schemas.microsoft.com/office/drawing/2014/main" id="{A8328DC2-20BB-5903-CEAE-7EA2422F47B2}"/>
              </a:ext>
            </a:extLst>
          </p:cNvPr>
          <p:cNvSpPr/>
          <p:nvPr/>
        </p:nvSpPr>
        <p:spPr>
          <a:xfrm rot="2687220">
            <a:off x="-880866" y="-3237709"/>
            <a:ext cx="13947867" cy="9884465"/>
          </a:xfrm>
          <a:custGeom>
            <a:avLst/>
            <a:gdLst/>
            <a:ahLst/>
            <a:cxnLst/>
            <a:rect l="l" t="t" r="r" b="b"/>
            <a:pathLst>
              <a:path w="9777014" h="8127143" extrusionOk="0">
                <a:moveTo>
                  <a:pt x="0" y="0"/>
                </a:moveTo>
                <a:lnTo>
                  <a:pt x="9777013" y="0"/>
                </a:lnTo>
                <a:lnTo>
                  <a:pt x="9777013" y="8127142"/>
                </a:lnTo>
                <a:lnTo>
                  <a:pt x="0" y="8127142"/>
                </a:lnTo>
                <a:lnTo>
                  <a:pt x="0" y="0"/>
                </a:lnTo>
                <a:close/>
              </a:path>
            </a:pathLst>
          </a:custGeom>
          <a:blipFill rotWithShape="1">
            <a:blip r:embed="rId3">
              <a:alphaModFix amt="20000"/>
            </a:blip>
            <a:stretch>
              <a:fillRect/>
            </a:stretch>
          </a:blipFill>
          <a:ln>
            <a:noFill/>
          </a:ln>
          <a:effectLst>
            <a:outerShdw blurRad="50800" dist="50800" dir="5400000" algn="ctr" rotWithShape="0">
              <a:srgbClr val="000000"/>
            </a:outerShdw>
          </a:effectLst>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102" name="Google Shape;102;p2">
            <a:extLst>
              <a:ext uri="{FF2B5EF4-FFF2-40B4-BE49-F238E27FC236}">
                <a16:creationId xmlns:a16="http://schemas.microsoft.com/office/drawing/2014/main" id="{BA6E7F2B-5E30-53D6-E8F9-E2C81EA3B8EC}"/>
              </a:ext>
            </a:extLst>
          </p:cNvPr>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IN"/>
              <a:t>17</a:t>
            </a:fld>
            <a:endParaRPr/>
          </a:p>
        </p:txBody>
      </p:sp>
      <p:sp>
        <p:nvSpPr>
          <p:cNvPr id="4" name="TextBox 3">
            <a:extLst>
              <a:ext uri="{FF2B5EF4-FFF2-40B4-BE49-F238E27FC236}">
                <a16:creationId xmlns:a16="http://schemas.microsoft.com/office/drawing/2014/main" id="{3A58DD45-2CC5-AC35-975B-01F1C32AB22D}"/>
              </a:ext>
            </a:extLst>
          </p:cNvPr>
          <p:cNvSpPr txBox="1"/>
          <p:nvPr/>
        </p:nvSpPr>
        <p:spPr>
          <a:xfrm>
            <a:off x="1442720" y="1560009"/>
            <a:ext cx="8818880" cy="2785378"/>
          </a:xfrm>
          <a:prstGeom prst="rect">
            <a:avLst/>
          </a:prstGeom>
          <a:noFill/>
        </p:spPr>
        <p:txBody>
          <a:bodyPr wrap="square">
            <a:spAutoFit/>
          </a:bodyPr>
          <a:lstStyle/>
          <a:p>
            <a:r>
              <a:rPr lang="en-IN" sz="2500" b="1" dirty="0">
                <a:solidFill>
                  <a:schemeClr val="accent2">
                    <a:lumMod val="20000"/>
                    <a:lumOff val="80000"/>
                  </a:schemeClr>
                </a:solidFill>
                <a:latin typeface="Roboto" panose="02000000000000000000" pitchFamily="2" charset="0"/>
                <a:ea typeface="Roboto" panose="02000000000000000000" pitchFamily="2" charset="0"/>
                <a:cs typeface="Roboto Light"/>
                <a:sym typeface="Roboto Light"/>
              </a:rPr>
              <a:t>Analogy Again</a:t>
            </a:r>
          </a:p>
          <a:p>
            <a:endParaRPr lang="en-IN" sz="2500" b="1" dirty="0">
              <a:solidFill>
                <a:schemeClr val="bg1"/>
              </a:solidFill>
              <a:latin typeface="Roboto" panose="02000000000000000000" pitchFamily="2" charset="0"/>
              <a:ea typeface="Roboto" panose="02000000000000000000" pitchFamily="2" charset="0"/>
              <a:cs typeface="Roboto Light"/>
              <a:sym typeface="Roboto Light"/>
            </a:endParaRPr>
          </a:p>
          <a:p>
            <a:pPr algn="ctr"/>
            <a:endParaRPr lang="en-IN" sz="2000" b="1" dirty="0">
              <a:solidFill>
                <a:schemeClr val="bg1"/>
              </a:solidFill>
              <a:latin typeface="Roboto" panose="02000000000000000000" pitchFamily="2" charset="0"/>
              <a:ea typeface="Roboto" panose="02000000000000000000" pitchFamily="2" charset="0"/>
              <a:cs typeface="Roboto Light"/>
              <a:sym typeface="Roboto Light"/>
            </a:endParaRPr>
          </a:p>
          <a:p>
            <a:pPr algn="ctr"/>
            <a:endParaRPr lang="en-IN" sz="2000" b="1" dirty="0">
              <a:solidFill>
                <a:schemeClr val="bg1"/>
              </a:solidFill>
              <a:latin typeface="Roboto" panose="02000000000000000000" pitchFamily="2" charset="0"/>
              <a:ea typeface="Roboto" panose="02000000000000000000" pitchFamily="2" charset="0"/>
              <a:cs typeface="Roboto Light"/>
              <a:sym typeface="Roboto Light"/>
            </a:endParaRPr>
          </a:p>
          <a:p>
            <a:pPr algn="ctr"/>
            <a:endParaRPr lang="en-IN" sz="2000" b="1" dirty="0">
              <a:solidFill>
                <a:schemeClr val="bg1"/>
              </a:solidFill>
              <a:latin typeface="Roboto" panose="02000000000000000000" pitchFamily="2" charset="0"/>
              <a:ea typeface="Roboto" panose="02000000000000000000" pitchFamily="2" charset="0"/>
              <a:cs typeface="Roboto Light"/>
              <a:sym typeface="Roboto Light"/>
            </a:endParaRPr>
          </a:p>
          <a:p>
            <a:pPr algn="ctr"/>
            <a:r>
              <a:rPr lang="en-IN" sz="2000" b="1" i="1" dirty="0">
                <a:solidFill>
                  <a:schemeClr val="bg1"/>
                </a:solidFill>
                <a:latin typeface="Times New Roman" panose="02020603050405020304" pitchFamily="18" charset="0"/>
                <a:cs typeface="Times New Roman" panose="02020603050405020304" pitchFamily="18" charset="0"/>
              </a:rPr>
              <a:t>“If many transcripts that share a motif are repeatedly found near one another across cells, that hints the motif is functional for localization.”</a:t>
            </a:r>
            <a:endParaRPr lang="en-IN" sz="2000" dirty="0">
              <a:solidFill>
                <a:schemeClr val="bg1"/>
              </a:solidFill>
              <a:latin typeface="Times New Roman" panose="02020603050405020304" pitchFamily="18" charset="0"/>
              <a:cs typeface="Times New Roman" panose="02020603050405020304" pitchFamily="18" charset="0"/>
            </a:endParaRPr>
          </a:p>
          <a:p>
            <a:endParaRPr lang="en-IN" sz="2500" b="1" dirty="0">
              <a:solidFill>
                <a:schemeClr val="bg1"/>
              </a:solidFill>
              <a:latin typeface="Roboto" panose="02000000000000000000" pitchFamily="2" charset="0"/>
              <a:ea typeface="Roboto" panose="02000000000000000000" pitchFamily="2" charset="0"/>
              <a:cs typeface="Roboto Light"/>
              <a:sym typeface="Roboto Light"/>
            </a:endParaRPr>
          </a:p>
        </p:txBody>
      </p:sp>
    </p:spTree>
    <p:extLst>
      <p:ext uri="{BB962C8B-B14F-4D97-AF65-F5344CB8AC3E}">
        <p14:creationId xmlns:p14="http://schemas.microsoft.com/office/powerpoint/2010/main" val="167894962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00">
          <a:extLst>
            <a:ext uri="{FF2B5EF4-FFF2-40B4-BE49-F238E27FC236}">
              <a16:creationId xmlns:a16="http://schemas.microsoft.com/office/drawing/2014/main" id="{214E0BF6-1FE3-7F29-D7B0-01A14AEF6EBA}"/>
            </a:ext>
          </a:extLst>
        </p:cNvPr>
        <p:cNvGrpSpPr/>
        <p:nvPr/>
      </p:nvGrpSpPr>
      <p:grpSpPr>
        <a:xfrm>
          <a:off x="0" y="0"/>
          <a:ext cx="0" cy="0"/>
          <a:chOff x="0" y="0"/>
          <a:chExt cx="0" cy="0"/>
        </a:xfrm>
      </p:grpSpPr>
      <p:sp>
        <p:nvSpPr>
          <p:cNvPr id="101" name="Google Shape;101;p2">
            <a:extLst>
              <a:ext uri="{FF2B5EF4-FFF2-40B4-BE49-F238E27FC236}">
                <a16:creationId xmlns:a16="http://schemas.microsoft.com/office/drawing/2014/main" id="{FD2F178B-B931-518D-8BCF-EECEE61BC416}"/>
              </a:ext>
            </a:extLst>
          </p:cNvPr>
          <p:cNvSpPr/>
          <p:nvPr/>
        </p:nvSpPr>
        <p:spPr>
          <a:xfrm rot="2687220">
            <a:off x="-880866" y="-3237709"/>
            <a:ext cx="13947867" cy="9884465"/>
          </a:xfrm>
          <a:custGeom>
            <a:avLst/>
            <a:gdLst/>
            <a:ahLst/>
            <a:cxnLst/>
            <a:rect l="l" t="t" r="r" b="b"/>
            <a:pathLst>
              <a:path w="9777014" h="8127143" extrusionOk="0">
                <a:moveTo>
                  <a:pt x="0" y="0"/>
                </a:moveTo>
                <a:lnTo>
                  <a:pt x="9777013" y="0"/>
                </a:lnTo>
                <a:lnTo>
                  <a:pt x="9777013" y="8127142"/>
                </a:lnTo>
                <a:lnTo>
                  <a:pt x="0" y="8127142"/>
                </a:lnTo>
                <a:lnTo>
                  <a:pt x="0" y="0"/>
                </a:lnTo>
                <a:close/>
              </a:path>
            </a:pathLst>
          </a:custGeom>
          <a:blipFill rotWithShape="1">
            <a:blip r:embed="rId3">
              <a:alphaModFix amt="20000"/>
            </a:blip>
            <a:stretch>
              <a:fillRect/>
            </a:stretch>
          </a:blipFill>
          <a:ln>
            <a:noFill/>
          </a:ln>
          <a:effectLst>
            <a:outerShdw blurRad="50800" dist="50800" dir="5400000" algn="ctr" rotWithShape="0">
              <a:srgbClr val="000000"/>
            </a:outerShdw>
          </a:effectLst>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102" name="Google Shape;102;p2">
            <a:extLst>
              <a:ext uri="{FF2B5EF4-FFF2-40B4-BE49-F238E27FC236}">
                <a16:creationId xmlns:a16="http://schemas.microsoft.com/office/drawing/2014/main" id="{45A1938C-AC2D-BFA8-7F46-9B1FFACF0F1E}"/>
              </a:ext>
            </a:extLst>
          </p:cNvPr>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IN"/>
              <a:t>18</a:t>
            </a:fld>
            <a:endParaRPr/>
          </a:p>
        </p:txBody>
      </p:sp>
      <p:sp>
        <p:nvSpPr>
          <p:cNvPr id="4" name="TextBox 3">
            <a:extLst>
              <a:ext uri="{FF2B5EF4-FFF2-40B4-BE49-F238E27FC236}">
                <a16:creationId xmlns:a16="http://schemas.microsoft.com/office/drawing/2014/main" id="{5C0E82F6-5329-94BA-B69B-11B4EC29D1F3}"/>
              </a:ext>
            </a:extLst>
          </p:cNvPr>
          <p:cNvSpPr txBox="1"/>
          <p:nvPr/>
        </p:nvSpPr>
        <p:spPr>
          <a:xfrm>
            <a:off x="1442720" y="1560009"/>
            <a:ext cx="8818880" cy="1477328"/>
          </a:xfrm>
          <a:prstGeom prst="rect">
            <a:avLst/>
          </a:prstGeom>
          <a:noFill/>
        </p:spPr>
        <p:txBody>
          <a:bodyPr wrap="square">
            <a:spAutoFit/>
          </a:bodyPr>
          <a:lstStyle/>
          <a:p>
            <a:r>
              <a:rPr lang="en-IN" sz="2500" b="1" dirty="0">
                <a:solidFill>
                  <a:schemeClr val="accent2">
                    <a:lumMod val="20000"/>
                    <a:lumOff val="80000"/>
                  </a:schemeClr>
                </a:solidFill>
                <a:latin typeface="Roboto" panose="02000000000000000000" pitchFamily="2" charset="0"/>
                <a:ea typeface="Roboto" panose="02000000000000000000" pitchFamily="2" charset="0"/>
                <a:cs typeface="Roboto Light"/>
                <a:sym typeface="Roboto Light"/>
              </a:rPr>
              <a:t>Link to the above work </a:t>
            </a:r>
          </a:p>
          <a:p>
            <a:endParaRPr lang="en-IN" sz="2500" b="1" dirty="0">
              <a:solidFill>
                <a:schemeClr val="bg1"/>
              </a:solidFill>
              <a:latin typeface="Roboto" panose="02000000000000000000" pitchFamily="2" charset="0"/>
              <a:ea typeface="Roboto" panose="02000000000000000000" pitchFamily="2" charset="0"/>
              <a:cs typeface="Roboto Light"/>
              <a:sym typeface="Roboto Light"/>
            </a:endParaRPr>
          </a:p>
          <a:p>
            <a:pPr algn="ctr"/>
            <a:endParaRPr lang="en-IN" sz="2000" b="1" i="1" dirty="0">
              <a:solidFill>
                <a:schemeClr val="bg1"/>
              </a:solidFill>
              <a:latin typeface="Times New Roman" panose="02020603050405020304" pitchFamily="18" charset="0"/>
              <a:cs typeface="Times New Roman" panose="02020603050405020304" pitchFamily="18" charset="0"/>
              <a:hlinkClick r:id="rId4"/>
            </a:endParaRPr>
          </a:p>
          <a:p>
            <a:pPr algn="ctr"/>
            <a:r>
              <a:rPr lang="en-IN" sz="2000" b="1" i="1" dirty="0">
                <a:solidFill>
                  <a:schemeClr val="bg1"/>
                </a:solidFill>
                <a:latin typeface="Times New Roman" panose="02020603050405020304" pitchFamily="18" charset="0"/>
                <a:cs typeface="Times New Roman" panose="02020603050405020304" pitchFamily="18" charset="0"/>
                <a:hlinkClick r:id="rId4"/>
              </a:rPr>
              <a:t>mRNA </a:t>
            </a:r>
            <a:r>
              <a:rPr lang="en-IN" sz="2000" b="1" i="1" dirty="0" err="1">
                <a:solidFill>
                  <a:schemeClr val="bg1"/>
                </a:solidFill>
                <a:latin typeface="Times New Roman" panose="02020603050405020304" pitchFamily="18" charset="0"/>
                <a:cs typeface="Times New Roman" panose="02020603050405020304" pitchFamily="18" charset="0"/>
                <a:hlinkClick r:id="rId4"/>
              </a:rPr>
              <a:t>Colocalisation.ipynb</a:t>
            </a:r>
            <a:endParaRPr lang="en-IN" sz="2500" b="1" dirty="0">
              <a:solidFill>
                <a:schemeClr val="bg1"/>
              </a:solidFill>
              <a:latin typeface="Roboto" panose="02000000000000000000" pitchFamily="2" charset="0"/>
              <a:ea typeface="Roboto" panose="02000000000000000000" pitchFamily="2" charset="0"/>
              <a:cs typeface="Roboto Light"/>
              <a:sym typeface="Roboto Light"/>
            </a:endParaRPr>
          </a:p>
        </p:txBody>
      </p:sp>
    </p:spTree>
    <p:extLst>
      <p:ext uri="{BB962C8B-B14F-4D97-AF65-F5344CB8AC3E}">
        <p14:creationId xmlns:p14="http://schemas.microsoft.com/office/powerpoint/2010/main" val="333535838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dk1"/>
        </a:solidFill>
        <a:effectLst/>
      </p:bgPr>
    </p:bg>
    <p:spTree>
      <p:nvGrpSpPr>
        <p:cNvPr id="1" name="Shape 345"/>
        <p:cNvGrpSpPr/>
        <p:nvPr/>
      </p:nvGrpSpPr>
      <p:grpSpPr>
        <a:xfrm>
          <a:off x="0" y="0"/>
          <a:ext cx="0" cy="0"/>
          <a:chOff x="0" y="0"/>
          <a:chExt cx="0" cy="0"/>
        </a:xfrm>
      </p:grpSpPr>
      <p:sp>
        <p:nvSpPr>
          <p:cNvPr id="346" name="Google Shape;346;g374977bb3c6_1_427"/>
          <p:cNvSpPr/>
          <p:nvPr/>
        </p:nvSpPr>
        <p:spPr>
          <a:xfrm>
            <a:off x="304800" y="171324"/>
            <a:ext cx="11582400" cy="6534000"/>
          </a:xfrm>
          <a:prstGeom prst="roundRect">
            <a:avLst>
              <a:gd name="adj" fmla="val 6449"/>
            </a:avLst>
          </a:prstGeom>
          <a:solidFill>
            <a:srgbClr val="262626"/>
          </a:solidFill>
          <a:ln w="12700" cap="flat" cmpd="sng">
            <a:solidFill>
              <a:srgbClr val="1C305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47" name="Google Shape;347;g374977bb3c6_1_427"/>
          <p:cNvSpPr txBox="1">
            <a:spLocks noGrp="1"/>
          </p:cNvSpPr>
          <p:nvPr>
            <p:ph type="sldNum" idx="12"/>
          </p:nvPr>
        </p:nvSpPr>
        <p:spPr>
          <a:xfrm>
            <a:off x="8610600" y="6356350"/>
            <a:ext cx="27432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IN"/>
              <a:t>19</a:t>
            </a:fld>
            <a:endParaRPr/>
          </a:p>
        </p:txBody>
      </p:sp>
      <p:sp>
        <p:nvSpPr>
          <p:cNvPr id="348" name="Google Shape;348;g374977bb3c6_1_427"/>
          <p:cNvSpPr txBox="1"/>
          <p:nvPr/>
        </p:nvSpPr>
        <p:spPr>
          <a:xfrm>
            <a:off x="304800" y="2738831"/>
            <a:ext cx="11582400" cy="8619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5000"/>
              <a:buFont typeface="Arial"/>
              <a:buNone/>
            </a:pPr>
            <a:r>
              <a:rPr lang="en-IN" sz="5000" b="1" i="0" u="none" strike="noStrike" cap="none">
                <a:solidFill>
                  <a:srgbClr val="FFD966"/>
                </a:solidFill>
                <a:latin typeface="Roboto" panose="02000000000000000000" pitchFamily="2" charset="0"/>
                <a:ea typeface="Roboto" panose="02000000000000000000" pitchFamily="2" charset="0"/>
                <a:sym typeface="Arial"/>
              </a:rPr>
              <a:t>Thank you</a:t>
            </a:r>
            <a:endParaRPr sz="1400" b="1" i="0" u="none" strike="noStrike" cap="none" dirty="0">
              <a:solidFill>
                <a:srgbClr val="000000"/>
              </a:solidFill>
              <a:latin typeface="Roboto" panose="02000000000000000000" pitchFamily="2" charset="0"/>
              <a:ea typeface="Roboto" panose="02000000000000000000" pitchFamily="2" charset="0"/>
              <a:sym typeface="Arial"/>
            </a:endParaRPr>
          </a:p>
        </p:txBody>
      </p:sp>
      <p:sp>
        <p:nvSpPr>
          <p:cNvPr id="349" name="Google Shape;349;g374977bb3c6_1_427"/>
          <p:cNvSpPr/>
          <p:nvPr/>
        </p:nvSpPr>
        <p:spPr>
          <a:xfrm rot="2687853">
            <a:off x="8087052" y="2795393"/>
            <a:ext cx="9782512" cy="8131713"/>
          </a:xfrm>
          <a:custGeom>
            <a:avLst/>
            <a:gdLst/>
            <a:ahLst/>
            <a:cxnLst/>
            <a:rect l="l" t="t" r="r" b="b"/>
            <a:pathLst>
              <a:path w="9777014" h="8127143" extrusionOk="0">
                <a:moveTo>
                  <a:pt x="0" y="0"/>
                </a:moveTo>
                <a:lnTo>
                  <a:pt x="9777013" y="0"/>
                </a:lnTo>
                <a:lnTo>
                  <a:pt x="9777013" y="8127142"/>
                </a:lnTo>
                <a:lnTo>
                  <a:pt x="0" y="8127142"/>
                </a:lnTo>
                <a:lnTo>
                  <a:pt x="0" y="0"/>
                </a:lnTo>
                <a:close/>
              </a:path>
            </a:pathLst>
          </a:custGeom>
          <a:blipFill rotWithShape="1">
            <a:blip r:embed="rId3">
              <a:alphaModFix amt="91000"/>
            </a:blip>
            <a:stretch>
              <a:fillRect/>
            </a:stretch>
          </a:blip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2125</TotalTime>
  <Words>664</Words>
  <Application>Microsoft Office PowerPoint</Application>
  <PresentationFormat>Widescreen</PresentationFormat>
  <Paragraphs>86</Paragraphs>
  <Slides>19</Slides>
  <Notes>19</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19</vt:i4>
      </vt:variant>
    </vt:vector>
  </HeadingPairs>
  <TitlesOfParts>
    <vt:vector size="25" baseType="lpstr">
      <vt:lpstr>Calibri</vt:lpstr>
      <vt:lpstr>Arial</vt:lpstr>
      <vt:lpstr>Roboto</vt:lpstr>
      <vt:lpstr>Georgia</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Mohit Joshi</dc:creator>
  <cp:lastModifiedBy>Mohit Joshi</cp:lastModifiedBy>
  <cp:revision>158</cp:revision>
  <dcterms:created xsi:type="dcterms:W3CDTF">2024-01-07T10:02:00Z</dcterms:created>
  <dcterms:modified xsi:type="dcterms:W3CDTF">2025-09-18T05:09:23Z</dcterms:modified>
</cp:coreProperties>
</file>
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9" r:id="rId4"/>
    <p:sldId id="291" r:id="rId5"/>
    <p:sldId id="292" r:id="rId6"/>
    <p:sldId id="293" r:id="rId7"/>
    <p:sldId id="294" r:id="rId8"/>
    <p:sldId id="277" r:id="rId9"/>
    <p:sldId id="278" r:id="rId10"/>
  </p:sldIdLst>
  <p:sldSz cx="12192000" cy="6858000"/>
  <p:notesSz cx="6858000" cy="9144000"/>
  <p:embeddedFontLst>
    <p:embeddedFont>
      <p:font typeface="Cambria Math" panose="02040503050406030204" pitchFamily="18" charset="0"/>
      <p:regular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goqP1yjJPMAaU6XnpAZ4pKqCM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01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2F6DCFE-B1A9-AB1C-3E01-D641B825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13DE4AED-D88C-68A3-E47A-94B97106EE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144FC99C-5C16-ED49-13D8-DC4567BCE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3160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958A39D-3E09-E4A7-DC8D-CE99D3AF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A62298F3-C854-E2AC-97D7-D7C1CE5F8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392CA4C9-64BB-6FF1-7504-E90C301E53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63403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4BADF02-12BE-A627-DDA5-A413ADD7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0B2FA2D6-D7C8-D646-9F6A-166763B85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331D4474-E360-EE15-D20E-02882DEB3A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4904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B730D40-8724-2F50-CBFE-BBB5E3EE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2313F8AE-5226-3328-952A-29CA1ED2C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B940D9AB-613E-3832-A854-D0AD568C37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4892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858CE97-15A7-176B-0626-C8340FD7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74769F9D-08C1-E76C-C31C-158115A3F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76F2FC0E-8776-6308-88BF-A46BC76695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4126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4977bb3c6_1_4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74977bb3c6_1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mohitjoshi2425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mohitjoshi2425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 rot="2689612">
            <a:off x="-4625726" y="-2688925"/>
            <a:ext cx="9777014" cy="8127143"/>
          </a:xfrm>
          <a:custGeom>
            <a:avLst/>
            <a:gdLst/>
            <a:ahLst/>
            <a:cxnLst/>
            <a:rect l="l" t="t" r="r" b="b"/>
            <a:pathLst>
              <a:path w="9777014" h="8127143" extrusionOk="0">
                <a:moveTo>
                  <a:pt x="0" y="0"/>
                </a:moveTo>
                <a:lnTo>
                  <a:pt x="9777013" y="0"/>
                </a:lnTo>
                <a:lnTo>
                  <a:pt x="9777013" y="8127142"/>
                </a:lnTo>
                <a:lnTo>
                  <a:pt x="0" y="81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4">
            <a:alphaModFix amt="70000"/>
          </a:blip>
          <a:srcRect t="7026" r="31756" b="32024"/>
          <a:stretch/>
        </p:blipFill>
        <p:spPr>
          <a:xfrm>
            <a:off x="8610600" y="4573429"/>
            <a:ext cx="4212000" cy="34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779400" y="2905800"/>
            <a:ext cx="106332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IN" sz="3800" b="1" dirty="0">
                <a:solidFill>
                  <a:srgbClr val="FFD966"/>
                </a:solidFill>
                <a:latin typeface="Roboto"/>
                <a:ea typeface="Roboto"/>
                <a:cs typeface="Roboto"/>
                <a:sym typeface="Roboto"/>
              </a:rPr>
              <a:t>Decoding the rules of RNA colocalization</a:t>
            </a:r>
            <a:endParaRPr sz="3800" b="1" dirty="0">
              <a:solidFill>
                <a:srgbClr val="FFD9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75F0F-3B82-AB00-2D8C-D98D22EF837E}"/>
              </a:ext>
            </a:extLst>
          </p:cNvPr>
          <p:cNvSpPr txBox="1"/>
          <p:nvPr/>
        </p:nvSpPr>
        <p:spPr>
          <a:xfrm>
            <a:off x="1635190" y="4981169"/>
            <a:ext cx="27128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0" i="0" u="sng" strike="noStrike" cap="none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Mohit Joshi</a:t>
            </a:r>
            <a:r>
              <a:rPr lang="en-US" sz="3000" b="0" i="0" u="none" strike="noStrike" cap="none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b="0" i="0" u="none" strike="noStrike" cap="none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BTech Biotechnology </a:t>
            </a:r>
            <a:endParaRPr lang="en-US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b="0" i="0" u="none" strike="noStrike" cap="none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Semester 7</a:t>
            </a:r>
            <a:endParaRPr lang="en-US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b="0" i="0" u="none" strike="noStrike" cap="none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Institute of Advanced Research</a:t>
            </a:r>
            <a:endParaRPr lang="en-US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2;g374977bb3c6_1_11">
            <a:extLst>
              <a:ext uri="{FF2B5EF4-FFF2-40B4-BE49-F238E27FC236}">
                <a16:creationId xmlns:a16="http://schemas.microsoft.com/office/drawing/2014/main" id="{C8FB727C-C5D7-096A-FAE5-0AAF0AFB2129}"/>
              </a:ext>
            </a:extLst>
          </p:cNvPr>
          <p:cNvSpPr/>
          <p:nvPr/>
        </p:nvSpPr>
        <p:spPr>
          <a:xfrm>
            <a:off x="304800" y="171323"/>
            <a:ext cx="11582400" cy="6185027"/>
          </a:xfrm>
          <a:prstGeom prst="roundRect">
            <a:avLst>
              <a:gd name="adj" fmla="val 6449"/>
            </a:avLst>
          </a:prstGeom>
          <a:solidFill>
            <a:srgbClr val="262626">
              <a:alpha val="50000"/>
            </a:srgbClr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 rot="2687220">
            <a:off x="-880866" y="-3237709"/>
            <a:ext cx="13947867" cy="9884465"/>
          </a:xfrm>
          <a:custGeom>
            <a:avLst/>
            <a:gdLst/>
            <a:ahLst/>
            <a:cxnLst/>
            <a:rect l="l" t="t" r="r" b="b"/>
            <a:pathLst>
              <a:path w="9777014" h="8127143" extrusionOk="0">
                <a:moveTo>
                  <a:pt x="0" y="0"/>
                </a:moveTo>
                <a:lnTo>
                  <a:pt x="9777013" y="0"/>
                </a:lnTo>
                <a:lnTo>
                  <a:pt x="9777013" y="8127142"/>
                </a:lnTo>
                <a:lnTo>
                  <a:pt x="0" y="81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094089" y="2448248"/>
            <a:ext cx="7997955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2500" i="1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  <a:sym typeface="Roboto Light"/>
              </a:rPr>
              <a:t>“The central dogma tells us which genes are expressed, but not where in the cell those gene products operate - or how RNAs are spatially organized to carry out coordinated functions and their location.”</a:t>
            </a:r>
            <a:endParaRPr sz="2500" i="1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  <a:sym typeface="Roboto Ligh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4A74D85-3A1B-8E09-D5C0-BA0AD6441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3BB1E96-07E3-99FB-5924-DA78D56DC072}"/>
              </a:ext>
            </a:extLst>
          </p:cNvPr>
          <p:cNvSpPr/>
          <p:nvPr/>
        </p:nvSpPr>
        <p:spPr>
          <a:xfrm rot="2687220">
            <a:off x="-880866" y="-3237709"/>
            <a:ext cx="13947867" cy="9884465"/>
          </a:xfrm>
          <a:custGeom>
            <a:avLst/>
            <a:gdLst/>
            <a:ahLst/>
            <a:cxnLst/>
            <a:rect l="l" t="t" r="r" b="b"/>
            <a:pathLst>
              <a:path w="9777014" h="8127143" extrusionOk="0">
                <a:moveTo>
                  <a:pt x="0" y="0"/>
                </a:moveTo>
                <a:lnTo>
                  <a:pt x="9777013" y="0"/>
                </a:lnTo>
                <a:lnTo>
                  <a:pt x="9777013" y="8127142"/>
                </a:lnTo>
                <a:lnTo>
                  <a:pt x="0" y="81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9AD67166-854B-715D-BD5A-FFAFA8574A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351E0-9752-B8BB-DB14-3A49C1EDB7D4}"/>
              </a:ext>
            </a:extLst>
          </p:cNvPr>
          <p:cNvSpPr txBox="1"/>
          <p:nvPr/>
        </p:nvSpPr>
        <p:spPr>
          <a:xfrm>
            <a:off x="843280" y="1228397"/>
            <a:ext cx="1051052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Hypothesis: 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mRNA’s sequence contains “zip code” or set of rules or common 			        sub sequences between each mRNAs that dictates it’s location and 			        neighbouring RNAs.</a:t>
            </a:r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 </a:t>
            </a:r>
          </a:p>
          <a:p>
            <a:endParaRPr lang="en-IN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Method: 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Deep learning model to predict mRNA’s local transcriptomic neighbourhood directly from it’s neighbour RNA sequence to discover </a:t>
            </a:r>
            <a:r>
              <a:rPr lang="en-IN" sz="2000" i="1" dirty="0">
                <a:solidFill>
                  <a:schemeClr val="bg1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  <a:sym typeface="Roboto Light"/>
              </a:rPr>
              <a:t>“Rule of Association”</a:t>
            </a:r>
          </a:p>
          <a:p>
            <a:endParaRPr lang="en-IN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Raw Data: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Image-based spatial transcriptomics datasets with single-molecule resolution (x, y, z coordinates) to x y z coordinates</a:t>
            </a:r>
          </a:p>
          <a:p>
            <a:endParaRPr lang="en-US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en-IN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CosMx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 (</a:t>
            </a:r>
            <a:r>
              <a:rPr lang="en-IN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nanostring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)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Xenium (10x genomics)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en-IN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Vizgen</a:t>
            </a:r>
            <a:endParaRPr lang="en-IN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U-2 OS MERFISH dataset (Zhuang Lab)</a:t>
            </a:r>
          </a:p>
          <a:p>
            <a:pPr marL="457200" indent="-457200">
              <a:buClr>
                <a:schemeClr val="bg1"/>
              </a:buClr>
              <a:buFont typeface="+mj-lt"/>
              <a:buAutoNum type="arabicPeriod"/>
            </a:pPr>
            <a:endParaRPr lang="en-IN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937579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4ED8409-1D38-704D-D720-34CFF95F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388D8CE-214B-D5CB-3B0C-BA1909E1524C}"/>
              </a:ext>
            </a:extLst>
          </p:cNvPr>
          <p:cNvSpPr/>
          <p:nvPr/>
        </p:nvSpPr>
        <p:spPr>
          <a:xfrm rot="2687220">
            <a:off x="-880866" y="-3237709"/>
            <a:ext cx="13947867" cy="9884465"/>
          </a:xfrm>
          <a:custGeom>
            <a:avLst/>
            <a:gdLst/>
            <a:ahLst/>
            <a:cxnLst/>
            <a:rect l="l" t="t" r="r" b="b"/>
            <a:pathLst>
              <a:path w="9777014" h="8127143" extrusionOk="0">
                <a:moveTo>
                  <a:pt x="0" y="0"/>
                </a:moveTo>
                <a:lnTo>
                  <a:pt x="9777013" y="0"/>
                </a:lnTo>
                <a:lnTo>
                  <a:pt x="9777013" y="8127142"/>
                </a:lnTo>
                <a:lnTo>
                  <a:pt x="0" y="81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A49476A8-EC43-F0CC-7028-39869134B1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solidFill>
                  <a:schemeClr val="bg1"/>
                </a:solidFill>
              </a:rPr>
              <a:t>4</a:t>
            </a:fld>
            <a:endParaRPr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DFB87E-9A6B-4E22-71C3-556B5811495D}"/>
                  </a:ext>
                </a:extLst>
              </p:cNvPr>
              <p:cNvSpPr txBox="1"/>
              <p:nvPr/>
            </p:nvSpPr>
            <p:spPr>
              <a:xfrm>
                <a:off x="837807" y="627609"/>
                <a:ext cx="10510520" cy="6120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Preprocessing Label Generation</a:t>
                </a:r>
              </a:p>
              <a:p>
                <a:endParaRPr lang="en-IN" sz="2000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Input Data prep for Transformer model: CSV HDF5 file </a:t>
                </a: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IN" sz="2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IN" sz="2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IN" sz="2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IN" sz="2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IN" sz="2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IN" sz="2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K Nearest Neighbour (KNN) for neighbourhood search for each RNA molecule to find it’s neighbouring RNA molecule (basically a lookup for nearer RNA molecules) </a:t>
                </a: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IN" sz="2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This </a:t>
                </a:r>
                <a:r>
                  <a:rPr lang="en-IN" sz="20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Roboto" panose="02000000000000000000" pitchFamily="2" charset="0"/>
                    <a:cs typeface="Times New Roman" panose="02020603050405020304" pitchFamily="18" charset="0"/>
                    <a:sym typeface="Roboto Light"/>
                  </a:rPr>
                  <a:t>Neighbourhood gene </a:t>
                </a:r>
                <a: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would then be converted to Probability Vector </a:t>
                </a:r>
                <a:r>
                  <a:rPr lang="en-IN" sz="20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(X) </a:t>
                </a:r>
                <a:b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</a:br>
                <a: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         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 Light"/>
                            <a:sym typeface="Roboto Light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</m:ctrlPr>
                          </m:fPr>
                          <m:num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𝑛𝑒𝑎𝑟𝑒𝑠𝑡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 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𝑔𝑒𝑛𝑒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 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𝑛𝑜𝑠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.  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𝑝𝑟𝑜𝑏𝑎𝑏𝑖𝑙𝑖𝑡𝑦</m:t>
                            </m:r>
                          </m:num>
                          <m:den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𝑡𝑜𝑡𝑎𝑙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 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𝑛𝑜𝑠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.  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𝑜𝑓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 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𝑔𝑒𝑛𝑒𝑠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 </m:t>
                            </m:r>
                            <m:r>
                              <a:rPr lang="en-IN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  <a:cs typeface="Roboto Light"/>
                                <a:sym typeface="Roboto Light"/>
                              </a:rPr>
                              <m:t>𝑑𝑒𝑡𝑒𝑐𝑡𝑒𝑑</m:t>
                            </m:r>
                          </m:den>
                        </m:f>
                      </m:e>
                    </m:d>
                  </m:oMath>
                </a14:m>
                <a:endParaRPr lang="en-IN" sz="2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endParaRPr lang="en-IN" sz="2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  <a:p>
                <a:pPr marL="457200" indent="-4572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Get </a:t>
                </a:r>
                <a:r>
                  <a:rPr lang="en-IN" sz="200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the “</a:t>
                </a:r>
                <a:r>
                  <a:rPr lang="en-IN" sz="2000" i="1">
                    <a:solidFill>
                      <a:schemeClr val="bg1"/>
                    </a:solidFill>
                    <a:latin typeface="Times New Roman" panose="02020603050405020304" pitchFamily="18" charset="0"/>
                    <a:ea typeface="Roboto" panose="02000000000000000000" pitchFamily="2" charset="0"/>
                    <a:cs typeface="Times New Roman" panose="02020603050405020304" pitchFamily="18" charset="0"/>
                    <a:sym typeface="Roboto Light"/>
                  </a:rPr>
                  <a:t>Reference </a:t>
                </a:r>
                <a:r>
                  <a:rPr lang="en-IN" sz="200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Roboto" panose="02000000000000000000" pitchFamily="2" charset="0"/>
                    <a:cs typeface="Times New Roman" panose="02020603050405020304" pitchFamily="18" charset="0"/>
                    <a:sym typeface="Roboto Light"/>
                  </a:rPr>
                  <a:t>full mRNA/</a:t>
                </a:r>
                <a:r>
                  <a:rPr lang="en-IN" sz="2000" i="1">
                    <a:solidFill>
                      <a:schemeClr val="bg1"/>
                    </a:solidFill>
                    <a:latin typeface="Times New Roman" panose="02020603050405020304" pitchFamily="18" charset="0"/>
                    <a:ea typeface="Roboto" panose="02000000000000000000" pitchFamily="2" charset="0"/>
                    <a:cs typeface="Times New Roman" panose="02020603050405020304" pitchFamily="18" charset="0"/>
                    <a:sym typeface="Roboto Light"/>
                  </a:rPr>
                  <a:t>Transcriptome sequence” </a:t>
                </a:r>
                <a: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(</a:t>
                </a:r>
                <a:r>
                  <a:rPr lang="en-IN" sz="200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GeneCode</a:t>
                </a:r>
                <a: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 or </a:t>
                </a:r>
                <a:r>
                  <a:rPr lang="en-IN" sz="2000" dirty="0" err="1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RefSeq</a:t>
                </a:r>
                <a: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) and convert it into probability Vector </a:t>
                </a:r>
                <a:r>
                  <a:rPr lang="en-IN" sz="20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(Y)</a:t>
                </a:r>
              </a:p>
              <a:p>
                <a:pPr lvl="2">
                  <a:buClr>
                    <a:schemeClr val="bg1"/>
                  </a:buClr>
                </a:pPr>
                <a:r>
                  <a:rPr lang="en-IN" sz="2000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 Light"/>
                    <a:sym typeface="Roboto Light"/>
                  </a:rPr>
                  <a:t>	</a:t>
                </a:r>
              </a:p>
              <a:p>
                <a:endParaRPr lang="en-IN" sz="20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 Light"/>
                  <a:sym typeface="Roboto Ligh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DFB87E-9A6B-4E22-71C3-556B58114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07" y="627609"/>
                <a:ext cx="10510520" cy="6120458"/>
              </a:xfrm>
              <a:prstGeom prst="rect">
                <a:avLst/>
              </a:prstGeom>
              <a:blipFill>
                <a:blip r:embed="rId4"/>
                <a:stretch>
                  <a:fillRect l="-638" t="-498" r="-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2753B0-AFE9-AA08-7752-25BEE53FEE39}"/>
              </a:ext>
            </a:extLst>
          </p:cNvPr>
          <p:cNvGraphicFramePr>
            <a:graphicFrameLocks noGrp="1"/>
          </p:cNvGraphicFramePr>
          <p:nvPr/>
        </p:nvGraphicFramePr>
        <p:xfrm>
          <a:off x="837807" y="1704523"/>
          <a:ext cx="10515600" cy="1524000"/>
        </p:xfrm>
        <a:graphic>
          <a:graphicData uri="http://schemas.openxmlformats.org/drawingml/2006/table">
            <a:tbl>
              <a:tblPr>
                <a:tableStyleId>{46F890A9-2807-4EBB-B81D-B2AA78EC7F39}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54719193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5445093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0174525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982264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62637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121282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ysClr val="windowText" lastClr="000000"/>
                          </a:solidFill>
                        </a:rPr>
                        <a:t>Molecule_ID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ysClr val="windowText" lastClr="000000"/>
                          </a:solidFill>
                        </a:rPr>
                        <a:t>Gene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ysClr val="windowText" lastClr="000000"/>
                          </a:solidFill>
                        </a:rPr>
                        <a:t>X (</a:t>
                      </a:r>
                      <a:r>
                        <a:rPr lang="el-GR" b="1">
                          <a:solidFill>
                            <a:sysClr val="windowText" lastClr="000000"/>
                          </a:solidFill>
                        </a:rPr>
                        <a:t>μ</a:t>
                      </a:r>
                      <a:r>
                        <a:rPr lang="en-IN" b="1">
                          <a:solidFill>
                            <a:sysClr val="windowText" lastClr="000000"/>
                          </a:solidFill>
                        </a:rPr>
                        <a:t>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ysClr val="windowText" lastClr="000000"/>
                          </a:solidFill>
                        </a:rPr>
                        <a:t>Y (</a:t>
                      </a:r>
                      <a:r>
                        <a:rPr lang="el-GR" b="1">
                          <a:solidFill>
                            <a:sysClr val="windowText" lastClr="000000"/>
                          </a:solidFill>
                        </a:rPr>
                        <a:t>μ</a:t>
                      </a:r>
                      <a:r>
                        <a:rPr lang="en-IN" b="1">
                          <a:solidFill>
                            <a:sysClr val="windowText" lastClr="000000"/>
                          </a:solidFill>
                        </a:rPr>
                        <a:t>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ysClr val="windowText" lastClr="000000"/>
                          </a:solidFill>
                        </a:rPr>
                        <a:t>Z (</a:t>
                      </a:r>
                      <a:r>
                        <a:rPr lang="el-GR" b="1">
                          <a:solidFill>
                            <a:sysClr val="windowText" lastClr="000000"/>
                          </a:solidFill>
                        </a:rPr>
                        <a:t>μ</a:t>
                      </a:r>
                      <a:r>
                        <a:rPr lang="en-IN" b="1">
                          <a:solidFill>
                            <a:sysClr val="windowText" lastClr="000000"/>
                          </a:solidFill>
                        </a:rPr>
                        <a:t>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>
                          <a:solidFill>
                            <a:sysClr val="windowText" lastClr="000000"/>
                          </a:solidFill>
                        </a:rPr>
                        <a:t>Cell_ID</a:t>
                      </a:r>
                      <a:endParaRPr lang="en-IN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033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GAPDH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11.2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23.0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Cell_5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318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ACTB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10.5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22.3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Cell_5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939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HNRNPA1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50.1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60.4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6.7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Cell_13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488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ysClr val="windowText" lastClr="000000"/>
                          </a:solidFill>
                        </a:rP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ysClr val="windowText" lastClr="000000"/>
                          </a:solidFill>
                        </a:rPr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75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328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602F54A-71D7-EF3A-6B7C-1E579CEE6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FA128C1-DC5D-035A-0106-CDB9C61982D2}"/>
              </a:ext>
            </a:extLst>
          </p:cNvPr>
          <p:cNvSpPr/>
          <p:nvPr/>
        </p:nvSpPr>
        <p:spPr>
          <a:xfrm rot="2687220">
            <a:off x="-880866" y="-3237709"/>
            <a:ext cx="13947867" cy="9884465"/>
          </a:xfrm>
          <a:custGeom>
            <a:avLst/>
            <a:gdLst/>
            <a:ahLst/>
            <a:cxnLst/>
            <a:rect l="l" t="t" r="r" b="b"/>
            <a:pathLst>
              <a:path w="9777014" h="8127143" extrusionOk="0">
                <a:moveTo>
                  <a:pt x="0" y="0"/>
                </a:moveTo>
                <a:lnTo>
                  <a:pt x="9777013" y="0"/>
                </a:lnTo>
                <a:lnTo>
                  <a:pt x="9777013" y="8127142"/>
                </a:lnTo>
                <a:lnTo>
                  <a:pt x="0" y="81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08C4FB8F-1BAA-971C-64BD-8914316E42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2CB0A-80E0-CE69-4303-9A78C826FF2B}"/>
              </a:ext>
            </a:extLst>
          </p:cNvPr>
          <p:cNvSpPr txBox="1"/>
          <p:nvPr/>
        </p:nvSpPr>
        <p:spPr>
          <a:xfrm>
            <a:off x="837807" y="627609"/>
            <a:ext cx="10510520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Modelling Sequence(X) and Reference (Y)</a:t>
            </a:r>
          </a:p>
          <a:p>
            <a:endParaRPr lang="en-IN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pPr lvl="2">
              <a:buClr>
                <a:schemeClr val="bg1"/>
              </a:buClr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We need a model which can:</a:t>
            </a:r>
          </a:p>
          <a:p>
            <a:pPr marL="342900" lvl="2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Read long RNA sequences </a:t>
            </a:r>
          </a:p>
          <a:p>
            <a:pPr marL="342900" lvl="2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Understand Non-Local dependencies (far apart structures and motifs)</a:t>
            </a:r>
          </a:p>
          <a:p>
            <a:pPr marL="342900" lvl="2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Learn Mappings to high Dimension output space</a:t>
            </a:r>
          </a:p>
          <a:p>
            <a:pPr lvl="2">
              <a:buClr>
                <a:schemeClr val="bg1"/>
              </a:buClr>
            </a:pPr>
            <a:endParaRPr lang="en-IN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pPr lvl="2">
              <a:buClr>
                <a:schemeClr val="bg1"/>
              </a:buClr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This is where </a:t>
            </a:r>
            <a:r>
              <a:rPr lang="en-IN" sz="2500" b="1" i="1" dirty="0">
                <a:solidFill>
                  <a:schemeClr val="bg1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  <a:sym typeface="Roboto Light"/>
              </a:rPr>
              <a:t>Transformer </a:t>
            </a:r>
            <a:r>
              <a:rPr lang="en-IN" sz="2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  <a:sym typeface="Roboto Light"/>
              </a:rPr>
              <a:t>architecture 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  <a:sym typeface="Roboto Light"/>
              </a:rPr>
              <a:t>comes in to play</a:t>
            </a:r>
          </a:p>
          <a:p>
            <a:pPr lvl="2">
              <a:buClr>
                <a:schemeClr val="bg1"/>
              </a:buClr>
            </a:pPr>
            <a:endParaRPr lang="en-IN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  <a:sym typeface="Roboto Light"/>
            </a:endParaRPr>
          </a:p>
          <a:p>
            <a:pPr lvl="2">
              <a:buClr>
                <a:schemeClr val="bg1"/>
              </a:buClr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Some referenced Transformer architectures (from literature review):</a:t>
            </a:r>
          </a:p>
          <a:p>
            <a:pPr marL="342900" lvl="2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RNABERT (Functional RNA clustering and structure alignment from RNA-base embeddings)</a:t>
            </a:r>
          </a:p>
          <a:p>
            <a:pPr marL="342900" lvl="2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Nucleotide Transformer (An AI Foundation model for Genomics)</a:t>
            </a:r>
          </a:p>
          <a:p>
            <a:pPr lvl="2">
              <a:buClr>
                <a:schemeClr val="bg1"/>
              </a:buClr>
            </a:pPr>
            <a:endParaRPr lang="en-IN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endParaRPr lang="en-IN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236795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5E828B-F744-8137-CFBD-C45DCA38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5B0CCBA-540D-12DF-BBD9-EFFCA674F223}"/>
              </a:ext>
            </a:extLst>
          </p:cNvPr>
          <p:cNvSpPr/>
          <p:nvPr/>
        </p:nvSpPr>
        <p:spPr>
          <a:xfrm rot="2687220">
            <a:off x="-880866" y="-3237709"/>
            <a:ext cx="13947867" cy="9884465"/>
          </a:xfrm>
          <a:custGeom>
            <a:avLst/>
            <a:gdLst/>
            <a:ahLst/>
            <a:cxnLst/>
            <a:rect l="l" t="t" r="r" b="b"/>
            <a:pathLst>
              <a:path w="9777014" h="8127143" extrusionOk="0">
                <a:moveTo>
                  <a:pt x="0" y="0"/>
                </a:moveTo>
                <a:lnTo>
                  <a:pt x="9777013" y="0"/>
                </a:lnTo>
                <a:lnTo>
                  <a:pt x="9777013" y="8127142"/>
                </a:lnTo>
                <a:lnTo>
                  <a:pt x="0" y="81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EC801893-CF9D-0D95-2620-79D8D63287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solidFill>
                  <a:schemeClr val="bg1"/>
                </a:solidFill>
              </a:rPr>
              <a:t>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BFFD1-86EB-9A7C-C9D6-925BB20B698D}"/>
              </a:ext>
            </a:extLst>
          </p:cNvPr>
          <p:cNvSpPr txBox="1"/>
          <p:nvPr/>
        </p:nvSpPr>
        <p:spPr>
          <a:xfrm>
            <a:off x="837807" y="627609"/>
            <a:ext cx="10510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Transformer architecture for Modelling Sequence(X) and Reference (Y)</a:t>
            </a:r>
            <a:endParaRPr lang="en-IN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1C8817-F374-ABB5-23AE-862AD117D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DNABERT / RNA-BERT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Nucleotide Transformer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6D125B-FBF4-CE37-337A-3AD451ADEE46}"/>
              </a:ext>
            </a:extLst>
          </p:cNvPr>
          <p:cNvSpPr/>
          <p:nvPr/>
        </p:nvSpPr>
        <p:spPr>
          <a:xfrm>
            <a:off x="609599" y="1353813"/>
            <a:ext cx="2699627" cy="156464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Transformer take </a:t>
            </a:r>
            <a:r>
              <a:rPr lang="en-IN" b="1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Vector embeddings</a:t>
            </a:r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as input by tokenizing (3-mer or 6-mer sequencing)</a:t>
            </a:r>
            <a:endParaRPr lang="en-IN" b="1" dirty="0">
              <a:solidFill>
                <a:sysClr val="windowText" lastClr="0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E52E84-2B51-C93E-B534-B338FDF58391}"/>
              </a:ext>
            </a:extLst>
          </p:cNvPr>
          <p:cNvSpPr/>
          <p:nvPr/>
        </p:nvSpPr>
        <p:spPr>
          <a:xfrm>
            <a:off x="3908667" y="1544320"/>
            <a:ext cx="2184400" cy="1158226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Stack </a:t>
            </a:r>
            <a:r>
              <a:rPr lang="en-IN" b="1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4-12 Transformer encoder</a:t>
            </a:r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self attention layer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80DB05-9E3D-8466-EBFE-C63C4E7F69ED}"/>
              </a:ext>
            </a:extLst>
          </p:cNvPr>
          <p:cNvSpPr/>
          <p:nvPr/>
        </p:nvSpPr>
        <p:spPr>
          <a:xfrm>
            <a:off x="6614162" y="1544320"/>
            <a:ext cx="2184400" cy="1158226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Positional encoding matches the </a:t>
            </a:r>
            <a:r>
              <a:rPr lang="en-IN" b="1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vectors X</a:t>
            </a:r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to </a:t>
            </a:r>
            <a:r>
              <a:rPr lang="en-IN" b="1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vectors 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C166D8-02E8-BD88-689E-7FBB8ECFAE13}"/>
              </a:ext>
            </a:extLst>
          </p:cNvPr>
          <p:cNvSpPr/>
          <p:nvPr/>
        </p:nvSpPr>
        <p:spPr>
          <a:xfrm>
            <a:off x="9319657" y="1544320"/>
            <a:ext cx="2184400" cy="1158226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Output vectors are received in the form of </a:t>
            </a:r>
            <a:r>
              <a:rPr lang="en-IN" b="1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X connected to Y (ref)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EA4D65-1930-50A5-7D08-6A62C2B4CD4D}"/>
              </a:ext>
            </a:extLst>
          </p:cNvPr>
          <p:cNvSpPr/>
          <p:nvPr/>
        </p:nvSpPr>
        <p:spPr>
          <a:xfrm>
            <a:off x="7797800" y="3749040"/>
            <a:ext cx="2443480" cy="13716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Use activation function (sigmoid) to convert into </a:t>
            </a:r>
            <a:r>
              <a:rPr lang="en-IN" b="1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gene probability distribution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9C2221-FEF6-9D30-7726-420829460632}"/>
              </a:ext>
            </a:extLst>
          </p:cNvPr>
          <p:cNvSpPr/>
          <p:nvPr/>
        </p:nvSpPr>
        <p:spPr>
          <a:xfrm>
            <a:off x="1747520" y="3640764"/>
            <a:ext cx="4114800" cy="1656718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For </a:t>
            </a:r>
            <a:r>
              <a:rPr lang="en-IN" b="1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Model validation </a:t>
            </a:r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loss function is checked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KL Divergence </a:t>
            </a:r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(compares X probs to Y Probs how far or near they 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Cross entropy </a:t>
            </a:r>
            <a:r>
              <a:rPr lang="en-IN" dirty="0">
                <a:solidFill>
                  <a:sysClr val="windowText" lastClr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(generic multi class model loss)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AE6C13D6-2237-419C-191F-3D06558756C5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309226" y="2123433"/>
            <a:ext cx="599441" cy="12700"/>
          </a:xfrm>
          <a:prstGeom prst="curved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0DB833AF-4867-51A7-E4D6-C1AE4CCA433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093067" y="2123433"/>
            <a:ext cx="521095" cy="12700"/>
          </a:xfrm>
          <a:prstGeom prst="curved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F30C7F72-BE56-52EB-B057-E886E1A61041}"/>
              </a:ext>
            </a:extLst>
          </p:cNvPr>
          <p:cNvCxnSpPr/>
          <p:nvPr/>
        </p:nvCxnSpPr>
        <p:spPr>
          <a:xfrm>
            <a:off x="8798562" y="2123433"/>
            <a:ext cx="521095" cy="12700"/>
          </a:xfrm>
          <a:prstGeom prst="curved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74D5EFFD-1CCF-4D16-5F85-E99B0C550005}"/>
              </a:ext>
            </a:extLst>
          </p:cNvPr>
          <p:cNvCxnSpPr>
            <a:stCxn id="8" idx="3"/>
            <a:endCxn id="9" idx="3"/>
          </p:cNvCxnSpPr>
          <p:nvPr/>
        </p:nvCxnSpPr>
        <p:spPr>
          <a:xfrm flipH="1">
            <a:off x="10241280" y="2123433"/>
            <a:ext cx="1262777" cy="2311407"/>
          </a:xfrm>
          <a:prstGeom prst="bentConnector3">
            <a:avLst>
              <a:gd name="adj1" fmla="val -18103"/>
            </a:avLst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B1ACF7C0-7FDB-54C4-65FB-4AF7AB3EEEF9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rot="10800000" flipV="1">
            <a:off x="5862320" y="4434839"/>
            <a:ext cx="1935480" cy="34283"/>
          </a:xfrm>
          <a:prstGeom prst="curvedConnector3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999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505A8EF-188E-3EB1-E74C-495367AC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B369877-F865-166E-4218-F59F3036233C}"/>
              </a:ext>
            </a:extLst>
          </p:cNvPr>
          <p:cNvSpPr/>
          <p:nvPr/>
        </p:nvSpPr>
        <p:spPr>
          <a:xfrm rot="2687220">
            <a:off x="-880866" y="-3237709"/>
            <a:ext cx="13947867" cy="9884465"/>
          </a:xfrm>
          <a:custGeom>
            <a:avLst/>
            <a:gdLst/>
            <a:ahLst/>
            <a:cxnLst/>
            <a:rect l="l" t="t" r="r" b="b"/>
            <a:pathLst>
              <a:path w="9777014" h="8127143" extrusionOk="0">
                <a:moveTo>
                  <a:pt x="0" y="0"/>
                </a:moveTo>
                <a:lnTo>
                  <a:pt x="9777013" y="0"/>
                </a:lnTo>
                <a:lnTo>
                  <a:pt x="9777013" y="8127142"/>
                </a:lnTo>
                <a:lnTo>
                  <a:pt x="0" y="81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CF45F5C3-EE4A-1209-30C0-1EE86C6957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solidFill>
                  <a:schemeClr val="bg1"/>
                </a:solidFill>
              </a:rPr>
              <a:t>7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D4A5A9-B4AB-F774-9EA0-5D2CC8082536}"/>
              </a:ext>
            </a:extLst>
          </p:cNvPr>
          <p:cNvSpPr txBox="1"/>
          <p:nvPr/>
        </p:nvSpPr>
        <p:spPr>
          <a:xfrm>
            <a:off x="837807" y="627609"/>
            <a:ext cx="105105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Biological validation 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(need to be figured out based on experiment, but based on literature review)</a:t>
            </a:r>
          </a:p>
          <a:p>
            <a:endParaRPr lang="en-IN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 Biological Discovery 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(method)</a:t>
            </a:r>
            <a:endParaRPr lang="en-IN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pPr lvl="3">
              <a:buClr>
                <a:schemeClr val="bg1"/>
              </a:buClr>
            </a:pPr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	- Attention Maps for motif discovery: 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Extract attention scores from Transformer 						          layers and visualise the heatmap and look for 					          multiple high attention RNA sequence.</a:t>
            </a:r>
          </a:p>
          <a:p>
            <a:pPr lvl="3">
              <a:buClr>
                <a:schemeClr val="bg1"/>
              </a:buClr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	</a:t>
            </a:r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- 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Group them from Attention Maps</a:t>
            </a:r>
          </a:p>
          <a:p>
            <a:pPr lvl="3">
              <a:buClr>
                <a:schemeClr val="bg1"/>
              </a:buClr>
            </a:pPr>
            <a:endParaRPr lang="en-IN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pPr lvl="3">
              <a:buClr>
                <a:schemeClr val="bg1"/>
              </a:buClr>
            </a:pPr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	- 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We can then form Biological Hypothesis by learning patterns like:</a:t>
            </a:r>
          </a:p>
          <a:p>
            <a:pPr lvl="3">
              <a:buClr>
                <a:schemeClr val="bg1"/>
              </a:buClr>
            </a:pPr>
            <a:endParaRPr lang="en-IN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pPr lvl="3">
              <a:buClr>
                <a:schemeClr val="bg1"/>
              </a:buClr>
            </a:pPr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		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- Using Gene Ontology enrichment analysis on predicted neighbourhoods, 		  we can predict their functional relativeness to each other.</a:t>
            </a:r>
            <a:endParaRPr lang="en-IN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  <a:p>
            <a:pPr lvl="3">
              <a:buClr>
                <a:schemeClr val="bg1"/>
              </a:buClr>
            </a:pPr>
            <a:r>
              <a:rPr lang="en-IN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		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- </a:t>
            </a: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All transcripts predicted to be in this RNA's neighborhood are part of the 		  glycolysis pathway</a:t>
            </a: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.</a:t>
            </a:r>
          </a:p>
          <a:p>
            <a:pPr lvl="3">
              <a:buClr>
                <a:schemeClr val="bg1"/>
              </a:buClr>
            </a:pPr>
            <a:r>
              <a:rPr lang="en-IN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		- </a:t>
            </a: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This subsequence ‘AUUGGAUUGGU’ is found in 80% of transcripts 			   localized to Processing bodies.</a:t>
            </a:r>
          </a:p>
          <a:p>
            <a:pPr lvl="3"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/>
                <a:sym typeface="Roboto Light"/>
              </a:rPr>
              <a:t>		- This colocalization rule is only learned in neurons, not fibroblasts.</a:t>
            </a:r>
            <a:endParaRPr lang="en-IN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/>
              <a:sym typeface="Roboto Ligh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8399F0-FD26-1A57-A656-D2E0C3FBA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DNABERT / RNA-BERT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Nucleotide Transformer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4977bb3c6_1_427"/>
          <p:cNvSpPr/>
          <p:nvPr/>
        </p:nvSpPr>
        <p:spPr>
          <a:xfrm>
            <a:off x="304800" y="171324"/>
            <a:ext cx="11582400" cy="6534000"/>
          </a:xfrm>
          <a:prstGeom prst="roundRect">
            <a:avLst>
              <a:gd name="adj" fmla="val 6449"/>
            </a:avLst>
          </a:prstGeom>
          <a:solidFill>
            <a:srgbClr val="262626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74977bb3c6_1_4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348" name="Google Shape;348;g374977bb3c6_1_427"/>
          <p:cNvSpPr txBox="1"/>
          <p:nvPr/>
        </p:nvSpPr>
        <p:spPr>
          <a:xfrm>
            <a:off x="304800" y="2738831"/>
            <a:ext cx="115824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IN" sz="5000" b="1" i="0" u="none" strike="noStrike" cap="none">
                <a:solidFill>
                  <a:srgbClr val="FFD966"/>
                </a:solidFill>
                <a:latin typeface="Roboto" panose="02000000000000000000" pitchFamily="2" charset="0"/>
                <a:ea typeface="Roboto" panose="02000000000000000000" pitchFamily="2" charset="0"/>
                <a:sym typeface="Arial"/>
              </a:rPr>
              <a:t>Thank you</a:t>
            </a:r>
            <a:endParaRPr sz="1400" b="1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sym typeface="Arial"/>
            </a:endParaRPr>
          </a:p>
        </p:txBody>
      </p:sp>
      <p:sp>
        <p:nvSpPr>
          <p:cNvPr id="349" name="Google Shape;349;g374977bb3c6_1_427"/>
          <p:cNvSpPr/>
          <p:nvPr/>
        </p:nvSpPr>
        <p:spPr>
          <a:xfrm rot="2687853">
            <a:off x="8087052" y="2795393"/>
            <a:ext cx="9782512" cy="8131713"/>
          </a:xfrm>
          <a:custGeom>
            <a:avLst/>
            <a:gdLst/>
            <a:ahLst/>
            <a:cxnLst/>
            <a:rect l="l" t="t" r="r" b="b"/>
            <a:pathLst>
              <a:path w="9777014" h="8127143" extrusionOk="0">
                <a:moveTo>
                  <a:pt x="0" y="0"/>
                </a:moveTo>
                <a:lnTo>
                  <a:pt x="9777013" y="0"/>
                </a:lnTo>
                <a:lnTo>
                  <a:pt x="9777013" y="8127142"/>
                </a:lnTo>
                <a:lnTo>
                  <a:pt x="0" y="81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1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/>
          <p:nvPr/>
        </p:nvSpPr>
        <p:spPr>
          <a:xfrm rot="-7713130">
            <a:off x="-4149631" y="2089305"/>
            <a:ext cx="11410874" cy="8127143"/>
          </a:xfrm>
          <a:custGeom>
            <a:avLst/>
            <a:gdLst/>
            <a:ahLst/>
            <a:cxnLst/>
            <a:rect l="l" t="t" r="r" b="b"/>
            <a:pathLst>
              <a:path w="9777014" h="8127143" extrusionOk="0">
                <a:moveTo>
                  <a:pt x="0" y="0"/>
                </a:moveTo>
                <a:lnTo>
                  <a:pt x="9777013" y="0"/>
                </a:lnTo>
                <a:lnTo>
                  <a:pt x="9777013" y="8127142"/>
                </a:lnTo>
                <a:lnTo>
                  <a:pt x="0" y="81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2"/>
          <p:cNvSpPr/>
          <p:nvPr/>
        </p:nvSpPr>
        <p:spPr>
          <a:xfrm rot="2689612">
            <a:off x="-887263" y="-3235947"/>
            <a:ext cx="13946203" cy="9894741"/>
          </a:xfrm>
          <a:custGeom>
            <a:avLst/>
            <a:gdLst/>
            <a:ahLst/>
            <a:cxnLst/>
            <a:rect l="l" t="t" r="r" b="b"/>
            <a:pathLst>
              <a:path w="9777014" h="8127143" extrusionOk="0">
                <a:moveTo>
                  <a:pt x="0" y="0"/>
                </a:moveTo>
                <a:lnTo>
                  <a:pt x="9777013" y="0"/>
                </a:lnTo>
                <a:lnTo>
                  <a:pt x="9777013" y="8127142"/>
                </a:lnTo>
                <a:lnTo>
                  <a:pt x="0" y="81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9000"/>
            </a:blip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2"/>
          <p:cNvSpPr/>
          <p:nvPr/>
        </p:nvSpPr>
        <p:spPr>
          <a:xfrm>
            <a:off x="1518942" y="335280"/>
            <a:ext cx="9098280" cy="5932603"/>
          </a:xfrm>
          <a:prstGeom prst="roundRect">
            <a:avLst>
              <a:gd name="adj" fmla="val 4325"/>
            </a:avLst>
          </a:prstGeom>
          <a:solidFill>
            <a:srgbClr val="04093A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14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14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14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1400" b="0" i="0" u="none" strike="noStrike" cap="none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IN" sz="3600" b="0" i="0" u="sng" strike="noStrike" cap="none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sym typeface="Arial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IN" sz="3600" u="sng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Twentieth Century"/>
              <a:sym typeface="Twentieth Century"/>
            </a:endParaRPr>
          </a:p>
        </p:txBody>
      </p:sp>
      <p:sp>
        <p:nvSpPr>
          <p:cNvPr id="358" name="Google Shape;358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2037</TotalTime>
  <Words>659</Words>
  <Application>Microsoft Office PowerPoint</Application>
  <PresentationFormat>Widescreen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Roboto</vt:lpstr>
      <vt:lpstr>Arial</vt:lpstr>
      <vt:lpstr>Times New Roman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Mohit Joshi</dc:creator>
  <cp:lastModifiedBy>Mohit Joshi</cp:lastModifiedBy>
  <cp:revision>132</cp:revision>
  <dcterms:created xsi:type="dcterms:W3CDTF">2024-01-07T10:02:00Z</dcterms:created>
  <dcterms:modified xsi:type="dcterms:W3CDTF">2025-09-01T05:56:44Z</dcterms:modified>
</cp:coreProperties>
</file>